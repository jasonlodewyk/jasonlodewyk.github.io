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PPGL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3957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DDF2"/>
                </a:solidFill>
                <a:latin typeface="Arial"/>
              </a:rPr>
              <a:t>PT Prima Globalindo Logistik Tbk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92608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C"/>
                </a:solidFill>
                <a:latin typeface="Arial"/>
              </a:rPr>
              <a:t>IDX Broker Flow Intelligence  ·  AVCO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6975" y="1024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A8C4"/>
                </a:solidFill>
                <a:latin typeface="Arial"/>
              </a:rPr>
              <a:t>16 Jul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6975" y="1371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D4B83C"/>
                </a:solidFill>
                <a:latin typeface="Arial"/>
              </a:rPr>
              <a:t>Rp 208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184708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9ABC"/>
                </a:solidFill>
                <a:latin typeface="Arial"/>
              </a:rPr>
              <a:t>Current Price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3401568"/>
            <a:ext cx="10966399" cy="0"/>
          </a:xfrm>
          <a:prstGeom prst="line">
            <a:avLst/>
          </a:prstGeom>
          <a:noFill/>
          <a:ln w="9525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3584448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Strategic Block (≥5%)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61264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75.9%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4315968" y="3584448"/>
            <a:ext cx="3493007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2" name="TextBox 10001"/>
          <p:cNvSpPr txBox="1"/>
          <p:nvPr/>
        </p:nvSpPr>
        <p:spPr>
          <a:xfrm>
            <a:off x="431596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Broker-Tracked Float</a:t>
            </a:r>
          </a:p>
        </p:txBody>
      </p:sp>
      <p:sp>
        <p:nvSpPr>
          <p:cNvPr id="10003" name="TextBox 10002"/>
          <p:cNvSpPr txBox="1"/>
          <p:nvPr/>
        </p:nvSpPr>
        <p:spPr>
          <a:xfrm>
            <a:off x="431596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36.3%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8019288" y="3584448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4" name="TextBox 10003"/>
          <p:cNvSpPr txBox="1"/>
          <p:nvPr/>
        </p:nvSpPr>
        <p:spPr>
          <a:xfrm>
            <a:off x="801928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Named &lt;5% Holders</a:t>
            </a:r>
          </a:p>
        </p:txBody>
      </p:sp>
      <p:sp>
        <p:nvSpPr>
          <p:cNvPr id="10005" name="TextBox 10004"/>
          <p:cNvSpPr txBox="1"/>
          <p:nvPr/>
        </p:nvSpPr>
        <p:spPr>
          <a:xfrm>
            <a:off x="801928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7.2%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4517136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6" name="TextBox 10005"/>
          <p:cNvSpPr txBox="1"/>
          <p:nvPr/>
        </p:nvSpPr>
        <p:spPr>
          <a:xfrm>
            <a:off x="61264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AVCO Realized P&amp;L</a:t>
            </a:r>
          </a:p>
        </p:txBody>
      </p:sp>
      <p:sp>
        <p:nvSpPr>
          <p:cNvPr id="10007" name="TextBox 10006"/>
          <p:cNvSpPr txBox="1"/>
          <p:nvPr/>
        </p:nvSpPr>
        <p:spPr>
          <a:xfrm>
            <a:off x="61264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+Rp4.57B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4315968" y="4517136"/>
            <a:ext cx="3493007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8" name="TextBox 10007"/>
          <p:cNvSpPr txBox="1"/>
          <p:nvPr/>
        </p:nvSpPr>
        <p:spPr>
          <a:xfrm>
            <a:off x="431596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AVCO Combined P&amp;L</a:t>
            </a:r>
          </a:p>
        </p:txBody>
      </p:sp>
      <p:sp>
        <p:nvSpPr>
          <p:cNvPr id="10009" name="TextBox 10008"/>
          <p:cNvSpPr txBox="1"/>
          <p:nvPr/>
        </p:nvSpPr>
        <p:spPr>
          <a:xfrm>
            <a:off x="431596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+Rp16.49B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8019288" y="4517136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10" name="TextBox 10009"/>
          <p:cNvSpPr txBox="1"/>
          <p:nvPr/>
        </p:nvSpPr>
        <p:spPr>
          <a:xfrm>
            <a:off x="801928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Profitable Brokers</a:t>
            </a:r>
          </a:p>
        </p:txBody>
      </p:sp>
      <p:sp>
        <p:nvSpPr>
          <p:cNvPr id="10011" name="TextBox 10010"/>
          <p:cNvSpPr txBox="1"/>
          <p:nvPr/>
        </p:nvSpPr>
        <p:spPr>
          <a:xfrm>
            <a:off x="801928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56/72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2A4468"/>
            </a:solidFill>
          </a:ln>
        </p:spPr>
        <p:txBody>
          <a:bodyPr/>
          <a:lstStyle/>
          <a:p/>
        </p:txBody>
      </p:sp>
      <p:sp>
        <p:nvSpPr>
          <p:cNvPr id="10012" name="TextBox 10011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4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13" name="TextBox 10012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A8C4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448056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Key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4480560" cy="4937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178308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Market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Rp 208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Strategic Block (≥5%)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75.9%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Named &lt;5% Holders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7.2%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Broker-Tracked Float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36.3%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Untracked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Median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Rp 185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Overhead Supply?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Realized P&amp;L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+Rp4.57B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Unrealized P&amp;L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+Rp11.92B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Combined P&amp;L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+Rp16.49B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Profitable Brokers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56 / 72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Top 5 Concentration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20.9%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Top 10 Concentration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26.6%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Trading Days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1418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Data Range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2020-07-20 → 2026-07-15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276088" y="914400"/>
            <a:ext cx="63029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85816" y="950976"/>
            <a:ext cx="6120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Key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6088" y="1380744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325880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Median broker cost Rp 185 vs market Rp 208 — price is above average break-even.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76088" y="2084832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029968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3-tier ownership: 75.9% strategic (KSEI direct), 7.2% named &lt;5%, 36.3% broker-tracked float.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6088" y="2788920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734056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AVCO combined P&amp;L: +Rp16.49B — 56 of 72 brokers profitable at current price.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6088" y="3493008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3438144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Realized P&amp;L: +Rp4.57B banked — provides cushion against paper losses.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76088" y="4197096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4142232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Top 10 brokers hold 26.6% of exchange float — moderately concentrated.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76088" y="4901184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4846320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Largest holder: YP at 6.46%, AVCO Rp 131, unrealized +Rp3.85B.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6088" y="5605272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5550408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Price controllers (last 6m): YP · CC · CP — YP (Rp131 σ54, lead r=+0.18, Structural) | CC (Rp218 σ35, lead r=-0.05, Structural). Identified via buy-lead correlation with next-day price returns.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Market Maker Identification  —  YP · CC · CP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356616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Identification Methodology  —  Last 6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1688" y="914400"/>
            <a:ext cx="72173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71416" y="950976"/>
            <a:ext cx="70344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Candidate Comparison  —  sorted by MM Score  ·  Lead ≥ 0.12 or Floor ≥ 55% or Buy% ≥ 75% = threshold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07592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271016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1 — Gross Flow Value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490472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broker gross_vol ÷ max broker gross_vol in same window. The broker that transacts the most total value (buy + sell) is the price-setter on IDX — MMs dominate volume, not just direction. Top traders by value score highest.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112264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075688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2 — Daily Consistency (30%)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295144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buy_presence = buy_days ÷ total trading days in 6m window. Real MMs show up almost every session. ≥ 50% gate to enter top-3 selection.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2916936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880360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3 — Price Correlation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099815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Max(lead_corr, contemp_corr) t-stat weighted. Confirms the MM is actually moving price, not just providing neutral liquidity. Distributor penalty: zeroed if lead &lt; −0.15 (buying before own price drops = distribution).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3721607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685031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★ Net/Gross Ratio — Insider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904487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Net shares held ÷ 6-month gross flow. High ratio (&gt;0.30) = broker accumulates quietly without churning — classic informed-money pattern. Purple-tinted rows in table — NOT selected as MM but flagged as potential insiders. Note: numerator is all-time, denominator is 6m.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4526279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489703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XC/XL — Retail Aggregators, NOT Excluded from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709159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XL (Stockbit) and XC (Ajaib) are excluded from MM SCORING only — their gross volume is retail aggregation, not structural price control. However they are NOT excluded from VWAP Alpha or correlation analysis (slide 17). The XC/XL correlation pair should be treated as ambiguous: could be retail co-movement or same beneficial owner routing through two platforms. Cannot be ruled out as insiders without KSEI account-level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367527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4A6E"/>
                </a:solidFill>
                <a:latin typeface="Arial"/>
              </a:rPr>
              <a:t>Selected: YP · CC · CP — top 3 by MM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568695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444444"/>
                </a:solidFill>
                <a:latin typeface="Arial"/>
              </a:rPr>
              <a:t>Green = Selected MM (biggest gross flow + daily presence)   |   Purple tint ★ = Quiet Accumulator (high Net/Gross, insider-like)   |   Amber = P&amp;D Operator   |   Tan = Retail Aggregator (excl.)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361688" y="1216152"/>
          <a:ext cx="6455664" cy="4937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13232"/>
                <a:gridCol w="566928"/>
                <a:gridCol w="749808"/>
                <a:gridCol w="475488"/>
                <a:gridCol w="685800"/>
                <a:gridCol w="685800"/>
                <a:gridCol w="749808"/>
                <a:gridCol w="530352"/>
                <a:gridCol w="65836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Lead 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Contemp 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Buy%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Gross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 Pos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Net/Gross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+0.180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-0.079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86.0M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49.9M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0.579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80.6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-0.051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-0.002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51.7M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9.5M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0.184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59.5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-0.034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+0.025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67.6M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34.3M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0.507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55.2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+0.025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-0.024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25.8M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13.6M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0.528★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33.2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+0.014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-0.011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22.1M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11.9M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0.537★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32.0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-0.068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+0.014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15.8M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8.3M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0.526★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31.2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DH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-0.005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-0.201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4.4M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2.2M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0.489★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29.9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-0.014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+0.047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16.5M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31.0M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1.878★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28.1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+0.026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-0.012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11.7M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3.9M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0.332★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22.7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BQ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-0.037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-0.015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0.259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19.4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3000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+0.113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-0.015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23.7M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7.6M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0.320★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26.0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Operator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4000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-0.025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-0.002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185.0M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32.8M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0.060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4000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-0.094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+0.066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33.6M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6.1M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0.057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Market Maker Deep Dive  —  YP · CC · CP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Price controllers identified via buy-lead correlation with next-day price (last 6m)  ·  Tight zone = month with lowest buy-price σ  ·  Distribution = sell-dominant periods (≥3% net sold)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YP  Asing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49.9M  (6.46%)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57.0M  (7.39%)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+7M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Mar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Rp197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6.6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Rp190 – Rp204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Rp216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25.3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Rp191 – Rp241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NET SELLING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-0.8M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-1.60%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Rp202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σ3.0  — Tight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297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CC  Pemerintah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9.5M  (1.23%)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10.2M  (1.32%)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Jul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+1M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Jul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6.8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Rp208 – Rp222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Rp216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30.1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Rp186 – Rp246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NET SELLING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-0.4M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-4.07%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Rp206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σ1.7  — Tight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3330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CP  Asing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34.3M  (4.44%)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37.4M  (4.85%)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Jun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+3M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Mar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Rp194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8.5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Rp186 – Rp202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Rp203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26.2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Rp177 – Rp229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NET SELLING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-0.2M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-0.70%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Rp205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77777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Pre-Move Accumulation — Insider Confidence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Who loaded up 1–3 weeks before price surged ≥15%  ·  last 12 months  ·  min 5M shares  ·  min 5 active days  ·  Hit% = surges front-ran ÷ total surges detected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7132320" cy="4663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502920"/>
                <a:gridCol w="1234440"/>
                <a:gridCol w="2331720"/>
                <a:gridCol w="1508760"/>
                <a:gridCol w="9601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Week End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Surge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VWAP Rp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Pre-Buyers (21d)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Day 1 Entry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881481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2026-06-17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143→175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CP(12.8M) · NI(5.7M)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CP(2.2M) · YP(2.1M)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+62%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881481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2026-01-12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+57%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190→298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KK(6.3M)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AO(3.0M) · AZ(1.4M)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+52%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881481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2025-12-11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116→160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LG(6.3M)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SQ(3.7M)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+924%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881481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2025-11-26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132→183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XL*(5.5M)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MG(1.2M)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881481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2025-10-09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108→125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GR(5.8M)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+755%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6062472"/>
            <a:ext cx="7132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77777"/>
                </a:solidFill>
                <a:latin typeface="Arial"/>
              </a:rPr>
              <a:t>* retail aggregator (Ajaib/Stockbit) — volume is real but not coordinated  ·  Pos% uses first signal broker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7848" y="1216152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212E"/>
                </a:solidFill>
                <a:latin typeface="Arial"/>
              </a:rPr>
              <a:t>TOP 3 SIGNAL BROKERS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27848" y="1435608"/>
          <a:ext cx="251460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329184"/>
                <a:gridCol w="402336"/>
                <a:gridCol w="621792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Hit%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Pre Vol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+62%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+924%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+52%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27848" y="2368296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212E"/>
                </a:solidFill>
                <a:latin typeface="Arial"/>
              </a:rPr>
              <a:t>ACCUMULATION RANKING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27848" y="2606039"/>
          <a:ext cx="3154680" cy="1554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92608"/>
                <a:gridCol w="384048"/>
                <a:gridCol w="475488"/>
                <a:gridCol w="475488"/>
                <a:gridCol w="93268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Hit%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Pre Vol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+62%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INFORMED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+924%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INFORMED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+52%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INFORMED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+755%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INFORMED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+308%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INFORMED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27848" y="4297679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2020"/>
                </a:solidFill>
                <a:latin typeface="Arial"/>
              </a:rPr>
              <a:t>POST-SURGE DISTRIBUTORS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927848" y="4535423"/>
          <a:ext cx="213055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530352"/>
                <a:gridCol w="7315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Surge End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Net Sold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2026-05-18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-8.2M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-8.1M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Ownership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640080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Shareholder Breakdown  —  3-Tier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96328" y="914400"/>
            <a:ext cx="43827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06056" y="950976"/>
            <a:ext cx="4199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Named Shareholders  &gt;1%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621792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96328" y="1216152"/>
          <a:ext cx="4288536" cy="493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731520"/>
                <a:gridCol w="658368"/>
                <a:gridCol w="65836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Holder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66881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Darmawan Suryadi SM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409.6M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53.12%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≥5%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66881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Jap Astrid Patricia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175.8M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22.80%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≥5%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66881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Suryawarni Surli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14.7M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1.91%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66881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Hengky Adinata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11.9M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1.54%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66881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William Febrian Adianto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10.7M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1.39%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66881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Surya Jaya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10.0M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1.30%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66881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Sinyo Kalangi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8.0M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Holdings  —  Top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740664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7223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Exchange Float  ·  Top 10 Brokers  ·  36.3% of total shares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0727" y="914400"/>
            <a:ext cx="34683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5" y="950976"/>
            <a:ext cx="3285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740664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0727" y="1216152"/>
          <a:ext cx="3419856" cy="493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280160"/>
                <a:gridCol w="1005840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%Co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49.9M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6.46%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34.3M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4.44%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32.8M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4.25%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31.0M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4.01%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13.6M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1.77%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11.9M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1.54%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9.5M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1.23%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8.3M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7.6M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0.98%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YJ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6.5M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0.84%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AVCO Cost Basis  —  Top 20 Brokers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AVCO  ·  Price-correlated lot matching (sell at P → consume lot nearest to P)  ·  72 brokers total  ·  Current price Rp 208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8961120" cy="480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188720"/>
                <a:gridCol w="1097280"/>
                <a:gridCol w="658368"/>
                <a:gridCol w="1170432"/>
                <a:gridCol w="1417320"/>
                <a:gridCol w="1417320"/>
                <a:gridCol w="14173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%Co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Realized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Unrealized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Combined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49.9M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6.46%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Rp131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+Rp3.30B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+Rp3.85B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+Rp7.15B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34.3M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4.44%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Rp196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+Rp0.21B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+Rp0.42B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+Rp0.64B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32.8M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4.25%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+Rp0.44B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-Rp0.23B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+Rp0.21B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31.0M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4.01%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Rp128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+Rp0.12B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+Rp2.49B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+Rp2.61B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13.6M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1.77%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Rp182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+Rp0.40B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+Rp0.35B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+Rp0.75B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11.9M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1.54%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Rp174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+Rp0.74B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+Rp0.40B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+Rp1.14B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1.23%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-Rp0.10B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-Rp0.05B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1.08%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Rp219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-Rp0.09B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-Rp0.02B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7.6M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0.98%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Rp190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-Rp0.11B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+Rp0.14B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YJ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0.84%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-Rp0.34B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+Rp0.73B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+Rp0.39B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0.79%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Rp212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+Rp0.09B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-Rp0.03B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SQ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Rp171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+Rp0.71B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+Rp0.20B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+Rp0.91B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IH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Rp121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-Rp0.03B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+Rp0.43B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+Rp0.41B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XA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0.58%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Rp203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-Rp0.02B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0.50%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Rp201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+Rp0.09B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FZ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0.41%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Rp77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+Rp0.22B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+Rp0.42B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+Rp0.64B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SH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Rp196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+Rp0.43B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+Rp0.47B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Rp82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+Rp0.20B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+Rp0.35B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+Rp0.55B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SA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-Rp0.21B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+Rp0.31B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+Rp0.11B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2.7M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Rp186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+Rp0.24B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+Rp0.06B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+Rp0.30B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Combined P&amp;L  —  Realized + Unrealized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Realized: +Rp4.57B  ·  Unrealized: +Rp11.92B  ·  Combined: +Rp16.49B  ·  56/72 profitable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4937760"/>
          </a:xfrm>
          <a:prstGeom prst="rect">
            <a:avLst/>
          </a:prstGeom>
        </p:spPr>
      </p:pic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AVCO Distribution  —  Where Did the Top 10 Buy?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Top 10 by shares  ·  Bar = buying range (AVCO ± 1σ)  ·  Tick = average cost (AVCO)  ·  Blue = in profit (AVCO below Rp 208)  ·  Red = underwater  ·  % = unrealized profit or loss vs current price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4937760"/>
          </a:xfrm>
          <a:prstGeom prst="rect">
            <a:avLst/>
          </a:prstGeom>
        </p:spPr>
      </p:pic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SD / Conviction Analysis  —  Accumulation Behaviour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σ ≤ 15 = disciplined zone buyers  ·  σ &gt; 25 = price-chasers  ·  Tightest = within last 6 months (bullish)  ·  Rel σ (σ÷market σ) on Bell Curve slide — &lt;1.0 = tighter than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16152"/>
            <a:ext cx="3564026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TIGHT  σ ≤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" y="1508760"/>
          <a:ext cx="3566160" cy="466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YJ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82–109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FZ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Rp77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68–86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SA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93–94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Rp145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7.7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2.7M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Jun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137–153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ZR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80–107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EL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85–96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Rp144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Apr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133–154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PF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1.6M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73–88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Rp76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675K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72–81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AF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Rp214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504K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211–218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…+7 more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313834" y="1216152"/>
            <a:ext cx="3564026" cy="25603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3562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MODERATE  σ 16-25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13834" y="1508760"/>
          <a:ext cx="35661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Rp121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22.7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99–144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Rp186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18.7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2.7M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Jun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167–204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YU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Rp192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24.2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813K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May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168–216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PO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21.4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544K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60–103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Rp231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22.7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38K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208–254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KI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Rp211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15K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191–232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015020" y="1216152"/>
            <a:ext cx="3564026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4748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WIDE / EXTREME  σ&gt;25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015020" y="1508760"/>
          <a:ext cx="3566160" cy="466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Rp131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54.5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49.9M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77–186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Rp196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64.2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34.3M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132–260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48.8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32.8M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166–264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Rp128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35.9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31.0M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92–164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Rp182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45.4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137–228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Rp174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43.7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11.9M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Apr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131–218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34.8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184–253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Rp219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71.0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149–290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Rp190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52.6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Jan '26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137–242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Rp212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41.2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171–254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…+31 more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Bell Curves  —  Accumulation Distribution by Conviction 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Narrow peak = disciplined buyer (high conviction)  ·  Flat curve = no price discipline  ·  3 panels — one per σ tier  ·  Each panel has its own zoomed x-axis  ·  Red dashed = current price  ·  Curve normalized to peak = 1.0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B7A3E"/>
                </a:solidFill>
                <a:latin typeface="Arial"/>
              </a:rPr>
              <a:t>YJ σ14  ·  FZ σ9  ·  SA σ1  ·  AG σ8  ·  ZR σ13  ·  EL σ5  ·  PC σ10  ·  PF σ8  ·  PS σ5  ·  AF σ4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114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5FA6"/>
                </a:solidFill>
                <a:latin typeface="Arial"/>
              </a:rPr>
              <a:t>IH σ23  ·  LG σ19  ·  YU σ24  ·  PO σ21  ·  SS σ23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580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0392B"/>
                </a:solidFill>
                <a:latin typeface="Arial"/>
              </a:rPr>
              <a:t>YP σ54  ·  CP σ64  ·  XL σ49  ·  OD σ36  ·  KK σ45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4078224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4114800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σ Evolution — Top 5 by Shares  ·  σ = buy-price std deviation (lower = more focused zone buying)  ·  Trend = σ 30d vs σ 180d (Tightening = buying more focused recently)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" y="4370832"/>
          <a:ext cx="10058400" cy="1828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005840"/>
                <a:gridCol w="1005840"/>
                <a:gridCol w="1005840"/>
                <a:gridCol w="1005840"/>
                <a:gridCol w="914400"/>
                <a:gridCol w="228600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All-time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90d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180d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Rel σ 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Trend (30d vs 180d)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49.9M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54.5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16.7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76.1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34.3M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64.2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19.7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38.1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36.1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32.8M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48.8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17.0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27.5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26.3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31.0M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35.9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16.0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19.1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22.2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13.6M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45.4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30.1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27.2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16B3A"/>
                          </a:solidFill>
                          <a:latin typeface="Arial"/>
                        </a:rPr>
                        <a:t>0.22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Regime Map  —  30d vs 180d Net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740664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7223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X = 30d net flow %  ·  Y = 180d net flow %  ·  Bubble ∝ ownership %  ·  Green=Accumulating  ·  Orange=Regime Change  ·  Red=Distributing  ·  Blue=Flipped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0727" y="914400"/>
            <a:ext cx="34683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5" y="950976"/>
            <a:ext cx="3285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740664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0727" y="1216152"/>
          <a:ext cx="3291840" cy="493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1887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180d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+3.2%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+18.0%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-0.1%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+33.0%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-1.1%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+32.2%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+1.2%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-0.3%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-53.1%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+1.4%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+18.8%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+15.9%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+36.2%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+70.4%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+13.0%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-9.9%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YJ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Investment Thesis  —  PPGL at Rp 208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53917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520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Bullish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7287" y="914400"/>
            <a:ext cx="5391759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97015" y="950976"/>
            <a:ext cx="520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Tactical Caution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62456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307592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AVCO median Rp 185 — price is ABOVE median broker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075688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020824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Net unrealized gain +Rp11.92B — broker float predominantly profitable.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788920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2734056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Realized armor: +Rp4.57B banked profit provides buffer.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502152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447288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Top 10 brokers hold 26.6% of total shares — concentrated, large incremental moves possible.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4215384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4160520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56/72 brokers profitable — majority positioned to hold.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1362456"/>
            <a:ext cx="36576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7015" y="1307592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Named &lt;5% holders (7.2%) = direct KSEI holders (creditor conversions, IPO allotments, or pre-IPO investors — entry price varies) — exit adds unexpected supply.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Ownership Reconciliation &amp;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Share Count Reconciliation  —  3-Tier Ownership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10972800" cy="2560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188720"/>
                <a:gridCol w="868680"/>
                <a:gridCol w="608076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Strategic ≥5% (founders/pre-IPO)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585.5M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75.92%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KSEI direct — never in broker flow, zero overlap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Named &lt;5% (direct KSEI — creditor/allotment/pre-IPO)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55.3M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7.17%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May overlap broker float — entry cost varies by holder type (shown gross)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Broker-tracked float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280.0M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36.30%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Raw broker flow data — may overlap with named &lt;5% holders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Untracked (KSEI, unidentified)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Not in named list or broker data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TOTAL SHARES OUTSTANDING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771.2M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Fully reconciled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" y="3913632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950208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4261103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215383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AVCO: price-correlated lot matching — on SELL at price P, consume the lot with min |buy_price − P|. Correct for aggregate broker data; raw FIFO and equal-weight AVCO both produce incorrect basis.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4828031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4782312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Gross flows: Stockbit Net-OFF — separate BUY/SELL rows per broker per day. Data: 2020-07-20 → 2026-07-15 (1418 days).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5394959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349240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Corporate actions: applied in-queue on recording date. Forward splits/bonus: lots ×multiplier, prices ×(1/multiplier). Reverse splits: lots ÷multiplier, prices ×multiplier. No post-hoc factor.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5961888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916168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Realized P&amp;L: realized_pnl_rp from holdings_final.csv (LotQueue). NOT avco_realized — can differ by billions on high-volume brokers.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Intelligence — VWAP Alpha &amp; Ownership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VWAP alpha &lt; 0 = broker buys cheaper than market average  ·  r &gt; 0.50 shown  ·  r ≥ 0.70 + both non-MM = amber (strong same-owner signal)  ·  Negative r = counterparty/transfer behavior, not co-ownership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161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212E"/>
                </a:solidFill>
                <a:latin typeface="Arial"/>
              </a:rPr>
              <a:t>BUY VWAP ALPHA  vs market  (all history)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490472"/>
          <a:ext cx="4480560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731520"/>
                <a:gridCol w="7315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Mean α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Days&lt;Mkt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t-stat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Buy days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MI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-1.354%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-3.1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BK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-1.224%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-1.8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SF MM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-1.196%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-3.8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ZP MM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-0.557%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-4.0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MU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-0.481%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-1.1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AI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-0.348%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-1.9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LS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-0.344%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-1.9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RF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-0.344%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-1.7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KI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-0.296%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-1.7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XA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-0.289%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-3.4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TP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-0.243%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-1.5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SQ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-0.230%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-4.1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FS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-0.223%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-1.3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DH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-0.220%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-0.8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AZ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-0.217%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-3.1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96328" y="1216152"/>
            <a:ext cx="4382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212E"/>
                </a:solidFill>
                <a:latin typeface="Arial"/>
              </a:rPr>
              <a:t>CORRELATED BROKER PAIRS  (same owner signal)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96328" y="1490472"/>
          <a:ext cx="3383280" cy="475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40080"/>
                <a:gridCol w="685800"/>
                <a:gridCol w="77724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Pair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Overlap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Roles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OD/XA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-0.910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366d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ACC|DIS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96328" y="6062472"/>
            <a:ext cx="4382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  <a:latin typeface="Arial"/>
              </a:rPr>
              <a:t>★ AMBER = r ≥ 0.70 + both non-MM roles = likely single owner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