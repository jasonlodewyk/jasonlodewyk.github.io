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100584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Arial"/>
              </a:rPr>
              <a:t>MEJA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2395728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DDF2"/>
                </a:solidFill>
                <a:latin typeface="Arial"/>
              </a:rPr>
              <a:t>PT Harta Djaya Karya Tbk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926080"/>
            <a:ext cx="8686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C"/>
                </a:solidFill>
                <a:latin typeface="Arial"/>
              </a:rPr>
              <a:t>IDX Broker Flow Intelligence  ·  AVCO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6975" y="10241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A8C4"/>
                </a:solidFill>
                <a:latin typeface="Arial"/>
              </a:rPr>
              <a:t>16 Jul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6975" y="137160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D4B83C"/>
                </a:solidFill>
                <a:latin typeface="Arial"/>
              </a:rPr>
              <a:t>Rp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6975" y="1847088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9ABC"/>
                </a:solidFill>
                <a:latin typeface="Arial"/>
              </a:rPr>
              <a:t>Current Price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3401568"/>
            <a:ext cx="10966399" cy="0"/>
          </a:xfrm>
          <a:prstGeom prst="line">
            <a:avLst/>
          </a:prstGeom>
          <a:noFill/>
          <a:ln w="9525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3584448"/>
            <a:ext cx="3493008" cy="0"/>
          </a:xfrm>
          <a:prstGeom prst="line">
            <a:avLst/>
          </a:prstGeom>
          <a:noFill/>
          <a:ln w="5080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3639312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4"/>
                </a:solidFill>
                <a:latin typeface="Arial"/>
              </a:rPr>
              <a:t>Strategic Block (≥5%)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612648" y="385876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39.3%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4315968" y="3584448"/>
            <a:ext cx="3493007" cy="0"/>
          </a:xfrm>
          <a:prstGeom prst="line">
            <a:avLst/>
          </a:prstGeom>
          <a:noFill/>
          <a:ln w="5080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10002" name="TextBox 10001"/>
          <p:cNvSpPr txBox="1"/>
          <p:nvPr/>
        </p:nvSpPr>
        <p:spPr>
          <a:xfrm>
            <a:off x="4315968" y="3639312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4"/>
                </a:solidFill>
                <a:latin typeface="Arial"/>
              </a:rPr>
              <a:t>Broker-Tracked Float</a:t>
            </a:r>
          </a:p>
        </p:txBody>
      </p:sp>
      <p:sp>
        <p:nvSpPr>
          <p:cNvPr id="10003" name="TextBox 10002"/>
          <p:cNvSpPr txBox="1"/>
          <p:nvPr/>
        </p:nvSpPr>
        <p:spPr>
          <a:xfrm>
            <a:off x="4315968" y="385876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58.6%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8019288" y="3584448"/>
            <a:ext cx="3493008" cy="0"/>
          </a:xfrm>
          <a:prstGeom prst="line">
            <a:avLst/>
          </a:prstGeom>
          <a:noFill/>
          <a:ln w="5080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10004" name="TextBox 10003"/>
          <p:cNvSpPr txBox="1"/>
          <p:nvPr/>
        </p:nvSpPr>
        <p:spPr>
          <a:xfrm>
            <a:off x="8019288" y="3639312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4"/>
                </a:solidFill>
                <a:latin typeface="Arial"/>
              </a:rPr>
              <a:t>Named &lt;5% Holders</a:t>
            </a:r>
          </a:p>
        </p:txBody>
      </p:sp>
      <p:sp>
        <p:nvSpPr>
          <p:cNvPr id="10005" name="TextBox 10004"/>
          <p:cNvSpPr txBox="1"/>
          <p:nvPr/>
        </p:nvSpPr>
        <p:spPr>
          <a:xfrm>
            <a:off x="8019288" y="385876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9.4%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4517136"/>
            <a:ext cx="3493008" cy="0"/>
          </a:xfrm>
          <a:prstGeom prst="line">
            <a:avLst/>
          </a:prstGeom>
          <a:noFill/>
          <a:ln w="5080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10006" name="TextBox 10005"/>
          <p:cNvSpPr txBox="1"/>
          <p:nvPr/>
        </p:nvSpPr>
        <p:spPr>
          <a:xfrm>
            <a:off x="612648" y="4571999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4"/>
                </a:solidFill>
                <a:latin typeface="Arial"/>
              </a:rPr>
              <a:t>AVCO Realized P&amp;L</a:t>
            </a:r>
          </a:p>
        </p:txBody>
      </p:sp>
      <p:sp>
        <p:nvSpPr>
          <p:cNvPr id="10007" name="TextBox 10006"/>
          <p:cNvSpPr txBox="1"/>
          <p:nvPr/>
        </p:nvSpPr>
        <p:spPr>
          <a:xfrm>
            <a:off x="612648" y="4791455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-Rp6.72B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4315968" y="4517136"/>
            <a:ext cx="3493007" cy="0"/>
          </a:xfrm>
          <a:prstGeom prst="line">
            <a:avLst/>
          </a:prstGeom>
          <a:noFill/>
          <a:ln w="5080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10008" name="TextBox 10007"/>
          <p:cNvSpPr txBox="1"/>
          <p:nvPr/>
        </p:nvSpPr>
        <p:spPr>
          <a:xfrm>
            <a:off x="4315968" y="4571999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4"/>
                </a:solidFill>
                <a:latin typeface="Arial"/>
              </a:rPr>
              <a:t>AVCO Combined P&amp;L</a:t>
            </a:r>
          </a:p>
        </p:txBody>
      </p:sp>
      <p:sp>
        <p:nvSpPr>
          <p:cNvPr id="10009" name="TextBox 10008"/>
          <p:cNvSpPr txBox="1"/>
          <p:nvPr/>
        </p:nvSpPr>
        <p:spPr>
          <a:xfrm>
            <a:off x="4315968" y="4791455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-Rp27.85B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8019288" y="4517136"/>
            <a:ext cx="3493008" cy="0"/>
          </a:xfrm>
          <a:prstGeom prst="line">
            <a:avLst/>
          </a:prstGeom>
          <a:noFill/>
          <a:ln w="5080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10010" name="TextBox 10009"/>
          <p:cNvSpPr txBox="1"/>
          <p:nvPr/>
        </p:nvSpPr>
        <p:spPr>
          <a:xfrm>
            <a:off x="8019288" y="4571999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4"/>
                </a:solidFill>
                <a:latin typeface="Arial"/>
              </a:rPr>
              <a:t>Profitable Brokers</a:t>
            </a:r>
          </a:p>
        </p:txBody>
      </p:sp>
      <p:sp>
        <p:nvSpPr>
          <p:cNvPr id="10011" name="TextBox 10010"/>
          <p:cNvSpPr txBox="1"/>
          <p:nvPr/>
        </p:nvSpPr>
        <p:spPr>
          <a:xfrm>
            <a:off x="8019288" y="4791455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40/72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2A4468"/>
            </a:solidFill>
          </a:ln>
        </p:spPr>
        <p:txBody>
          <a:bodyPr/>
          <a:lstStyle/>
          <a:p/>
        </p:txBody>
      </p:sp>
      <p:sp>
        <p:nvSpPr>
          <p:cNvPr id="10012" name="TextBox 10011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A8C4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13" name="TextBox 10012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AA8C4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4480560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Key Metrics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216152"/>
          <a:ext cx="4480560" cy="49377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178308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Market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Rp 80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Strategic Block (≥5%)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39.3%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Named &lt;5% Holders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9.4%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Broker-Tracked Float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58.6%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Untracked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AVCO Median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Rp 94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Overhead Supply?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AVCO Realized P&amp;L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-Rp6.72B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AVCO Unrealized P&amp;L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-Rp21.13B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AVCO Combined P&amp;L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-Rp27.85B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Profitable Brokers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40 / 72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Top 5 Concentration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37.5%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Top 10 Concentration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47.1%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Trading Days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495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Data Range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2024-02-12 → 2026-07-16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276088" y="914400"/>
            <a:ext cx="630295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85816" y="950976"/>
            <a:ext cx="61200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Key Findings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5276088" y="1380744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40680" y="1325880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Median broker cost Rp 94 vs market Rp 80 — price is below average break-even.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76088" y="2084832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2029968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3-tier ownership: 39.3% strategic (KSEI direct), 9.4% named &lt;5%, 58.6% broker-tracked float.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76088" y="2788920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2734056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AVCO combined P&amp;L: -Rp27.85B — 40 of 72 brokers profitable at current price.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76088" y="3493008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3438144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Realized P&amp;L: -Rp6.72B banked — provides cushion against paper losses.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76088" y="4197096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80" y="4142232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Top 10 brokers hold 47.1% of exchange float — moderately concentrated.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76088" y="4901184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4846320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Largest holder: XL at 14.42%, AVCO Rp 92, unrealized -Rp4.64B.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6088" y="5605272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5550408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Price controllers (last 6m): CC · YP · YJ — CC (Rp91 σ26, lead r=+0.07, Directional / no clear signal) | YP (Rp93 σ71, lead r=+0.10, Support). Identified via buy-lead correlation with next-day price returns.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Market Maker Identification  —  CC · YP · YJ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3566160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3383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Identification Methodology  —  Last 6 Months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61688" y="914400"/>
            <a:ext cx="721735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71416" y="950976"/>
            <a:ext cx="70344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Candidate Comparison  —  sorted by MM Score  ·  Lead ≥ 0.12 or Floor ≥ 55% or Buy% ≥ 75% = threshold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1307592"/>
            <a:ext cx="36576" cy="27432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271016"/>
            <a:ext cx="3419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212E"/>
                </a:solidFill>
                <a:latin typeface="Arial"/>
              </a:rPr>
              <a:t>Signal 1 — Gross Flow Value (50%)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1490472"/>
            <a:ext cx="34198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Arial"/>
              </a:rPr>
              <a:t>broker gross_vol ÷ max broker gross_vol in same window. The broker that transacts the most total value (buy + sell) is the price-setter on IDX — MMs dominate volume, not just direction. Top traders by value score highest.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112264"/>
            <a:ext cx="36576" cy="27432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2075688"/>
            <a:ext cx="3419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212E"/>
                </a:solidFill>
                <a:latin typeface="Arial"/>
              </a:rPr>
              <a:t>Signal 2 — Daily Consistency (30%)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295144"/>
            <a:ext cx="34198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Arial"/>
              </a:rPr>
              <a:t>buy_presence = buy_days ÷ total trading days in 6m window. Real MMs show up almost every session. ≥ 50% gate to enter top-3 selection.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2916936"/>
            <a:ext cx="36576" cy="27432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2880360"/>
            <a:ext cx="3419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212E"/>
                </a:solidFill>
                <a:latin typeface="Arial"/>
              </a:rPr>
              <a:t>Signal 3 — Price Correlation (20%)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099815"/>
            <a:ext cx="34198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Arial"/>
              </a:rPr>
              <a:t>Max(lead_corr, contemp_corr) t-stat weighted. Confirms the MM is actually moving price, not just providing neutral liquidity. Distributor penalty: zeroed if lead &lt; −0.15 (buying before own price drops = distribution).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" y="3721607"/>
            <a:ext cx="36576" cy="27432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3685031"/>
            <a:ext cx="3419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212E"/>
                </a:solidFill>
                <a:latin typeface="Arial"/>
              </a:rPr>
              <a:t>★ Net/Gross Ratio — Insider Signal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3904487"/>
            <a:ext cx="34198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Arial"/>
              </a:rPr>
              <a:t>Net shares held ÷ 6-month gross flow. High ratio (&gt;0.30) = broker accumulates quietly without churning — classic informed-money pattern. Purple-tinted rows in table — NOT selected as MM but flagged as potential insiders. Note: numerator is all-time, denominator is 6m.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" y="4526279"/>
            <a:ext cx="36576" cy="27432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4489703"/>
            <a:ext cx="3419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212E"/>
                </a:solidFill>
                <a:latin typeface="Arial"/>
              </a:rPr>
              <a:t>XC/XL — Retail Aggregators, NOT Excluded from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4709159"/>
            <a:ext cx="34198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Arial"/>
              </a:rPr>
              <a:t>XL (Stockbit) and XC (Ajaib) are excluded from MM SCORING only — their gross volume is retail aggregation, not structural price control. However they are NOT excluded from VWAP Alpha or correlation analysis (slide 17). The XC/XL correlation pair should be treated as ambiguous: could be retail co-movement or same beneficial owner routing through two platforms. Cannot be ruled out as insiders without KSEI account-level data.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5367527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14A6E"/>
                </a:solidFill>
                <a:latin typeface="Arial"/>
              </a:rPr>
              <a:t>Selected: CC · YP · YJ — top 3 by MM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5568695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444444"/>
                </a:solidFill>
                <a:latin typeface="Arial"/>
              </a:rPr>
              <a:t>Green = Selected MM (biggest gross flow + daily presence)   |   Purple tint ★ = Quiet Accumulator (high Net/Gross, insider-like)   |   Amber = P&amp;D Operator   |   Tan = Retail Aggregator (excl.)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361688" y="1216152"/>
          <a:ext cx="6455664" cy="4937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713232"/>
                <a:gridCol w="566928"/>
                <a:gridCol w="749808"/>
                <a:gridCol w="475488"/>
                <a:gridCol w="685800"/>
                <a:gridCol w="685800"/>
                <a:gridCol w="749808"/>
                <a:gridCol w="530352"/>
                <a:gridCol w="65836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Lead 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Contemp 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Buy%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Gross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Net Pos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Net/Gross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04018"/>
                          </a:solidFill>
                          <a:latin typeface="Arial"/>
                        </a:rPr>
                        <a:t>CC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+0.074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-0.111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76%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703.6M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170.9M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0.243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72.8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Selected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04018"/>
                          </a:solidFill>
                          <a:latin typeface="Arial"/>
                        </a:rPr>
                        <a:t>YP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+0.095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-0.124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68%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502.6M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166.9M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0.332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56.1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Selected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04018"/>
                          </a:solidFill>
                          <a:latin typeface="Arial"/>
                        </a:rPr>
                        <a:t>YJ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+0.121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+0.159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66%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362.8M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168.0M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0.463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46.5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Selected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CP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+0.088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+0.100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66%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180.8M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32.8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+0.093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+0.071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259.3M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2.9M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0.011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32.0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A1A1A"/>
                          </a:solidFill>
                          <a:latin typeface="Arial"/>
                        </a:rPr>
                        <a:t>KK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-0.275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-0.164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67%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135.1M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82.8M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0.613★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29.8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A1A1A"/>
                          </a:solidFill>
                          <a:latin typeface="Arial"/>
                        </a:rPr>
                        <a:t>NI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-0.090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-0.008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68%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128.8M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53.8M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0.418★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29.6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A1A1A"/>
                          </a:solidFill>
                          <a:latin typeface="Arial"/>
                        </a:rPr>
                        <a:t>OD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-0.164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-0.082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76%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71.9M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23.0M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0.320★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27.9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SQ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-0.125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-0.023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119.6M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20.9M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0.174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27.6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-0.045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+0.066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59%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136.8M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37.0M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0.271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27.5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603000"/>
                          </a:solidFill>
                          <a:latin typeface="Arial"/>
                        </a:rPr>
                        <a:t>MG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+0.181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+0.259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137.8M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9.9M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0.072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26.4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Operator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604000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+0.088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+0.047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67%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1.84B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376.1M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0.035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Excluded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604000"/>
                          </a:solidFill>
                          <a:latin typeface="Arial"/>
                        </a:rPr>
                        <a:t>XC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-0.197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+0.007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65%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340.2M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96.5M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Excluded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Market Maker Deep Dive  —  CC · YP · YJ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Price controllers identified via buy-lead correlation with next-day price (last 6m)  ·  Tight zone = month with lowest buy-price σ  ·  Distribution = sell-dominant periods (≥3% net sold)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216152"/>
          <a:ext cx="354604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9557"/>
                <a:gridCol w="2056485"/>
              </a:tblGrid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CC  Pemerintah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170.9M  (6.55%)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PEAK HOLDINGS (200d)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Peak Shares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170.9M  (6.55%)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Peak Date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Jul 2026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vs Current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+0M shares vs now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ACCUMULATION ZONE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Tightest Month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16212E"/>
                          </a:solidFill>
                          <a:latin typeface="Arial"/>
                        </a:rPr>
                        <a:t>Jul '26 (recent)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Buy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Rp84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σ at Tightest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2.8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Price Range ±1σ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Rp81 – Rp87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DISTRIBUTION ZONE</a:t>
                      </a:r>
                    </a:p>
                  </a:txBody>
                  <a:tcPr>
                    <a:solidFill>
                      <a:srgbClr val="7B1414"/>
                    </a:solidFill>
                    <a:lnL w="6350">
                      <a:solidFill>
                        <a:srgbClr val="670000"/>
                      </a:solidFill>
                    </a:lnL>
                    <a:lnR w="6350">
                      <a:solidFill>
                        <a:srgbClr val="670000"/>
                      </a:solidFill>
                    </a:lnR>
                    <a:lnT w="6350">
                      <a:solidFill>
                        <a:srgbClr val="670000"/>
                      </a:solidFill>
                    </a:lnT>
                    <a:lnB w="6350">
                      <a:solidFill>
                        <a:srgbClr val="67000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7B1414"/>
                    </a:solidFill>
                    <a:lnL w="6350">
                      <a:solidFill>
                        <a:srgbClr val="670000"/>
                      </a:solidFill>
                    </a:lnL>
                    <a:lnR w="6350">
                      <a:solidFill>
                        <a:srgbClr val="670000"/>
                      </a:solidFill>
                    </a:lnR>
                    <a:lnT w="6350">
                      <a:solidFill>
                        <a:srgbClr val="670000"/>
                      </a:solidFill>
                    </a:lnT>
                    <a:lnB w="6350">
                      <a:solidFill>
                        <a:srgbClr val="670000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Sell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Rp131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σ at Distribution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C0392B"/>
                          </a:solidFill>
                          <a:latin typeface="Arial"/>
                        </a:rPr>
                        <a:t>27.9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Price Range ±1σ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Rp103 – Rp159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LAST 5d  ACTION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Direction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16B3A"/>
                          </a:solidFill>
                          <a:latin typeface="Arial"/>
                        </a:rPr>
                        <a:t>NET BUYING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Net Volume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16B3A"/>
                          </a:solidFill>
                          <a:latin typeface="Arial"/>
                        </a:rPr>
                        <a:t>+3.0M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% of Holdings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16B3A"/>
                          </a:solidFill>
                          <a:latin typeface="Arial"/>
                        </a:rPr>
                        <a:t>+1.75%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Price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Rp81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Conviction 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σ1.5  — Tight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2978" y="1216152"/>
          <a:ext cx="354604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9557"/>
                <a:gridCol w="2056485"/>
              </a:tblGrid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YP  Asing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166.9M  (6.40%)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PEAK HOLDINGS (200d)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Peak Shares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269.5M  (10.33%)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Peak Date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Jan 2026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vs Current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+103M shares vs now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ACCUMULATION ZONE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Tightest Month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16212E"/>
                          </a:solidFill>
                          <a:latin typeface="Arial"/>
                        </a:rPr>
                        <a:t>Jul '26 (recent)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Buy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Rp85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σ at Tightest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3.5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Price Range ±1σ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Rp82 – Rp88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DISTRIBUTION ZONE</a:t>
                      </a:r>
                    </a:p>
                  </a:txBody>
                  <a:tcPr>
                    <a:solidFill>
                      <a:srgbClr val="7B1414"/>
                    </a:solidFill>
                    <a:lnL w="6350">
                      <a:solidFill>
                        <a:srgbClr val="670000"/>
                      </a:solidFill>
                    </a:lnL>
                    <a:lnR w="6350">
                      <a:solidFill>
                        <a:srgbClr val="670000"/>
                      </a:solidFill>
                    </a:lnR>
                    <a:lnT w="6350">
                      <a:solidFill>
                        <a:srgbClr val="670000"/>
                      </a:solidFill>
                    </a:lnT>
                    <a:lnB w="6350">
                      <a:solidFill>
                        <a:srgbClr val="67000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7B1414"/>
                    </a:solidFill>
                    <a:lnL w="6350">
                      <a:solidFill>
                        <a:srgbClr val="670000"/>
                      </a:solidFill>
                    </a:lnL>
                    <a:lnR w="6350">
                      <a:solidFill>
                        <a:srgbClr val="670000"/>
                      </a:solidFill>
                    </a:lnR>
                    <a:lnT w="6350">
                      <a:solidFill>
                        <a:srgbClr val="670000"/>
                      </a:solidFill>
                    </a:lnT>
                    <a:lnB w="6350">
                      <a:solidFill>
                        <a:srgbClr val="670000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Sell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Rp120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σ at Distribution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C0392B"/>
                          </a:solidFill>
                          <a:latin typeface="Arial"/>
                        </a:rPr>
                        <a:t>29.3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Price Range ±1σ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Rp91 – Rp149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LAST 5d  ACTION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Direction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C0392B"/>
                          </a:solidFill>
                          <a:latin typeface="Arial"/>
                        </a:rPr>
                        <a:t>NET SELLING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Net Volume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C0392B"/>
                          </a:solidFill>
                          <a:latin typeface="Arial"/>
                        </a:rPr>
                        <a:t>-0.3M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% of Holdings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C0392B"/>
                          </a:solidFill>
                          <a:latin typeface="Arial"/>
                        </a:rPr>
                        <a:t>-0.20%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Price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Rp80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Conviction 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σ1.2  — Tight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033308" y="1216152"/>
          <a:ext cx="354604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9557"/>
                <a:gridCol w="2056485"/>
              </a:tblGrid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YJ  Lokal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168.0M  (6.44%)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PEAK HOLDINGS (200d)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Peak Shares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168.0M  (6.44%)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Peak Date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Jul 2026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vs Current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+0M shares vs now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ACCUMULATION ZONE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Tightest Month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16212E"/>
                          </a:solidFill>
                          <a:latin typeface="Arial"/>
                        </a:rPr>
                        <a:t>Jul '26 (recent)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Buy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Rp85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σ at Tightest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2.7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Price Range ±1σ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Rp82 – Rp88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DISTRIBUTION ZONE</a:t>
                      </a:r>
                    </a:p>
                  </a:txBody>
                  <a:tcPr>
                    <a:solidFill>
                      <a:srgbClr val="7B1414"/>
                    </a:solidFill>
                    <a:lnL w="6350">
                      <a:solidFill>
                        <a:srgbClr val="670000"/>
                      </a:solidFill>
                    </a:lnL>
                    <a:lnR w="6350">
                      <a:solidFill>
                        <a:srgbClr val="670000"/>
                      </a:solidFill>
                    </a:lnR>
                    <a:lnT w="6350">
                      <a:solidFill>
                        <a:srgbClr val="670000"/>
                      </a:solidFill>
                    </a:lnT>
                    <a:lnB w="6350">
                      <a:solidFill>
                        <a:srgbClr val="67000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7B1414"/>
                    </a:solidFill>
                    <a:lnL w="6350">
                      <a:solidFill>
                        <a:srgbClr val="670000"/>
                      </a:solidFill>
                    </a:lnL>
                    <a:lnR w="6350">
                      <a:solidFill>
                        <a:srgbClr val="670000"/>
                      </a:solidFill>
                    </a:lnR>
                    <a:lnT w="6350">
                      <a:solidFill>
                        <a:srgbClr val="670000"/>
                      </a:solidFill>
                    </a:lnT>
                    <a:lnB w="6350">
                      <a:solidFill>
                        <a:srgbClr val="670000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Sell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Rp111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σ at Distribution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C0392B"/>
                          </a:solidFill>
                          <a:latin typeface="Arial"/>
                        </a:rPr>
                        <a:t>19.6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Price Range ±1σ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Rp91 – Rp131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LAST 5d  ACTION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Direction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16B3A"/>
                          </a:solidFill>
                          <a:latin typeface="Arial"/>
                        </a:rPr>
                        <a:t>NET BUYING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Net Volume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16B3A"/>
                          </a:solidFill>
                          <a:latin typeface="Arial"/>
                        </a:rPr>
                        <a:t>+0.2M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% of Holdings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16B3A"/>
                          </a:solidFill>
                          <a:latin typeface="Arial"/>
                        </a:rPr>
                        <a:t>+0.12%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Price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Rp81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Conviction 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σ1.0  — Tight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Pre-Move Accumulation — Insider Confidence Signal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Who loaded up 1–3 weeks before price surged ≥15%  ·  last 12 months  ·  min 5M shares  ·  min 5 active days  ·  Hit% = surges front-ran ÷ total surges detected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216152"/>
          <a:ext cx="7132320" cy="4663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502920"/>
                <a:gridCol w="1234440"/>
                <a:gridCol w="2331720"/>
                <a:gridCol w="1508760"/>
                <a:gridCol w="96012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Week End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Surge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VWAP Rp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Pre-Buyers (21d)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Day 1 Entry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Pos%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629629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2026-04-15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+36%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77→104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CC(6.2M)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XL*(10.2M) · CC(5.4M)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629629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2026-02-18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+38%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75→103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CC(56.7M) · XC*(20.7M) · NI(16.7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XL*(22.0M) · YP(17.6M)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629629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2026-01-05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+58%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76→121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XC*(64.1M) · YJ(29.5M) · YP(27.6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XL*(48.9M) · YP(16.0M)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629629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2025-10-13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+30%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105→137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YP(52.9M) · CP(45.7M) · MG(29.8M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AI(3.5M)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+157%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629629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2025-09-25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+61%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77→125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XL*(86.5M) · YU(68.0M) · YP(50.4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YP(16.8M) · AT(12.9M)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629629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2025-09-02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+59%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48→77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XL*(185.4M) · YP(92.1M) · CC(52.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YU(53.0M) · YP(2.9M)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629629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2025-08-13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+53%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29→45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YU(81.4M) · XL*(27.5M) · YP(12.8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XL*(2.8M)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" y="6062472"/>
            <a:ext cx="7132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777777"/>
                </a:solidFill>
                <a:latin typeface="Arial"/>
              </a:rPr>
              <a:t>* retail aggregator (Ajaib/Stockbit) — volume is real but not coordinated  ·  Pos% uses first signal broker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7848" y="1216152"/>
            <a:ext cx="36511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212E"/>
                </a:solidFill>
                <a:latin typeface="Arial"/>
              </a:rPr>
              <a:t>TOP 3 SIGNAL BROKERS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927848" y="1435608"/>
          <a:ext cx="2514600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329184"/>
                <a:gridCol w="402336"/>
                <a:gridCol w="621792"/>
                <a:gridCol w="56692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Hit%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Pre Vol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Avg Pos%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195072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YP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86%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241M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+121%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</a:tr>
              <a:tr h="195072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YU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29%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149M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</a:tr>
              <a:tr h="195072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CC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122M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+404%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27848" y="2368296"/>
            <a:ext cx="36511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212E"/>
                </a:solidFill>
                <a:latin typeface="Arial"/>
              </a:rPr>
              <a:t>ACCUMULATION RANKING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27848" y="2606039"/>
          <a:ext cx="3154680" cy="15544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92608"/>
                <a:gridCol w="384048"/>
                <a:gridCol w="475488"/>
                <a:gridCol w="475488"/>
                <a:gridCol w="93268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Hit%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Pre Vol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Avg Pos%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Class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59689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322M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+321%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Retail Flow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59689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YP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86%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241M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+121%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INSIDER-LIKE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</a:tr>
              <a:tr h="259689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YU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29%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149M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INSIDER-LIKE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</a:tr>
              <a:tr h="259689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XC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71%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144M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+56%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Retail Flow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59689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CC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122M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+404%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INSIDER-LIKE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27848" y="4297679"/>
            <a:ext cx="36511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2020"/>
                </a:solidFill>
                <a:latin typeface="Arial"/>
              </a:rPr>
              <a:t>POST-SURGE DISTRIBUTORS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927848" y="4535423"/>
          <a:ext cx="2130552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530352"/>
                <a:gridCol w="73152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Surge End</a:t>
                      </a:r>
                    </a:p>
                  </a:txBody>
                  <a:tcPr>
                    <a:solidFill>
                      <a:srgbClr val="C02020"/>
                    </a:solidFill>
                    <a:lnL w="6350">
                      <a:solidFill>
                        <a:srgbClr val="AC0C0C"/>
                      </a:solidFill>
                    </a:lnL>
                    <a:lnR w="6350">
                      <a:solidFill>
                        <a:srgbClr val="AC0C0C"/>
                      </a:solidFill>
                    </a:lnR>
                    <a:lnT w="6350">
                      <a:solidFill>
                        <a:srgbClr val="AC0C0C"/>
                      </a:solidFill>
                    </a:lnT>
                    <a:lnB w="6350">
                      <a:solidFill>
                        <a:srgbClr val="AC0C0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C02020"/>
                    </a:solidFill>
                    <a:lnL w="6350">
                      <a:solidFill>
                        <a:srgbClr val="AC0C0C"/>
                      </a:solidFill>
                    </a:lnL>
                    <a:lnR w="6350">
                      <a:solidFill>
                        <a:srgbClr val="AC0C0C"/>
                      </a:solidFill>
                    </a:lnR>
                    <a:lnT w="6350">
                      <a:solidFill>
                        <a:srgbClr val="AC0C0C"/>
                      </a:solidFill>
                    </a:lnT>
                    <a:lnB w="6350">
                      <a:solidFill>
                        <a:srgbClr val="AC0C0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Net Sold</a:t>
                      </a:r>
                    </a:p>
                  </a:txBody>
                  <a:tcPr>
                    <a:solidFill>
                      <a:srgbClr val="C02020"/>
                    </a:solidFill>
                    <a:lnL w="6350">
                      <a:solidFill>
                        <a:srgbClr val="AC0C0C"/>
                      </a:solidFill>
                    </a:lnL>
                    <a:lnR w="6350">
                      <a:solidFill>
                        <a:srgbClr val="AC0C0C"/>
                      </a:solidFill>
                    </a:lnR>
                    <a:lnT w="6350">
                      <a:solidFill>
                        <a:srgbClr val="AC0C0C"/>
                      </a:solidFill>
                    </a:lnT>
                    <a:lnB w="6350">
                      <a:solidFill>
                        <a:srgbClr val="AC0C0C"/>
                      </a:solidFill>
                    </a:lnB>
                  </a:tcPr>
                </a:tc>
              </a:tr>
              <a:tr h="170688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2026-04-15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CC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-22.2M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170688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BR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-8.6M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170688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2026-02-18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YP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-69.2M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170688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BR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-12.9M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170688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2026-01-05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CC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-182.8M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170688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AK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-51.4M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Ownership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6400800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6217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Shareholder Breakdown  —  3-Tier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96328" y="914400"/>
            <a:ext cx="438271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06056" y="950976"/>
            <a:ext cx="4199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Named Shareholders  &gt;1%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16152"/>
            <a:ext cx="6217920" cy="49377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96328" y="1216152"/>
          <a:ext cx="4288536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731520"/>
                <a:gridCol w="658368"/>
                <a:gridCol w="65836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Holder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585216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PT Triple Berkah Bersama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1.03B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39.31%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≥5%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585216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Donny Hartanto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89.8M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3.44%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&lt;5%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585216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William Febrian Adianto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36.8M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1.41%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&lt;5%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585216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Maria Christina S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29.3M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1.12%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&lt;5%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585216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Evan Iskandar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27.7M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1.06%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&lt;5%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585216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Haskojaya Abadi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27.3M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1.05%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&lt;5%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585216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Supian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26.8M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1.03%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&lt;5%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585216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Richie Adrian Hartanto S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7.6M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0.29%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&lt;5%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Broker Holdings  —  Top 10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7406640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72237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Exchange Float  ·  Top 10 Brokers  ·  58.6% of total shares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110727" y="914400"/>
            <a:ext cx="346831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0455" y="950976"/>
            <a:ext cx="3285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Detail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16152"/>
            <a:ext cx="7406640" cy="49377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110727" y="1216152"/>
          <a:ext cx="3419856" cy="4937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/>
                <a:gridCol w="1280160"/>
                <a:gridCol w="1005840"/>
                <a:gridCol w="56692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%Co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376.1M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14.42%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CC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170.9M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6.55%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YJ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168.0M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6.44%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YP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166.9M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6.40%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XC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96.5M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3.70%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KK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82.8M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3.17%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NI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53.8M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2.06%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EP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39.2M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1.50%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LG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37.0M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1.42%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PD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36.4M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1.40%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AVCO Cost Basis  —  Top 20 Brokers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AVCO  ·  Price-correlated lot matching (sell at P → consume lot nearest to P)  ·  72 brokers total  ·  Current price Rp 80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216152"/>
          <a:ext cx="8961120" cy="480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188720"/>
                <a:gridCol w="1097280"/>
                <a:gridCol w="658368"/>
                <a:gridCol w="1170432"/>
                <a:gridCol w="1417320"/>
                <a:gridCol w="1417320"/>
                <a:gridCol w="141732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%Co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AVCO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Realized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Unrealized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Combined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376.1M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14.42%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Rp92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-Rp0.80B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-Rp4.64B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-Rp5.45B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CC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170.9M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6.55%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Rp91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+Rp2.83B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-Rp1.81B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+Rp1.02B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YJ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168.0M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6.44%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Rp93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+Rp1.92B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-Rp2.13B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-Rp0.20B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YP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166.9M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6.40%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Rp93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+Rp0.38B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-Rp2.15B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-Rp1.77B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XC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96.5M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3.70%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Rp94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+Rp0.04B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-Rp1.34B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-Rp1.31B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KK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82.8M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3.17%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Rp92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+Rp0.29B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-Rp1.01B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-Rp0.72B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NI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53.8M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2.06%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Rp97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+Rp0.21B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-Rp0.92B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-Rp0.71B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EP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39.2M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1.50%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Rp93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+Rp0.87B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-Rp0.50B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+Rp0.37B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37.0M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1.42%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Rp89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+Rp1.22B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-Rp0.32B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+Rp0.90B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PD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36.4M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1.40%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Rp92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-Rp0.68B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-Rp0.45B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-Rp1.13B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32.3M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1.24%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Rp145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+Rp0.89B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-Rp2.11B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-Rp1.23B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TP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24.5M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0.94%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Rp82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+Rp0.01B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-Rp0.06B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-Rp0.05B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OD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23.0M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0.88%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Rp94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-Rp2.17B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-Rp0.31B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-Rp2.48B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SQ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20.9M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0.80%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Rp90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+Rp0.02B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-Rp0.22B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-Rp0.20B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DR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20.4M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0.78%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Rp88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+Rp0.75B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-Rp0.16B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+Rp0.59B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GR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20.4M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0.78%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Rp96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+Rp0.47B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-Rp0.32B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+Rp0.15B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CD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18.0M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0.69%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Rp117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+Rp0.02B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-Rp0.66B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-Rp0.64B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DH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15.5M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0.59%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Rp94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+Rp0.18B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-Rp0.21B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-Rp0.03B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BQ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14.8M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0.57%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Rp87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+Rp1.12B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-Rp0.10B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+Rp1.01B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TS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10.4M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0.40%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Rp117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+Rp0.00B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-Rp0.39B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-Rp0.39B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Combined P&amp;L  —  Realized + Unrealized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Realized: -Rp6.72B  ·  Unrealized: -Rp21.13B  ·  Combined: -Rp27.85B  ·  40/72 profitable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16152"/>
            <a:ext cx="10966399" cy="4937760"/>
          </a:xfrm>
          <a:prstGeom prst="rect">
            <a:avLst/>
          </a:prstGeom>
        </p:spPr>
      </p:pic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AVCO Distribution  —  Where Did the Top 10 Buy?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Top 10 by shares  ·  Bar = buying range (AVCO ± 1σ)  ·  Tick = average cost (AVCO)  ·  Blue = in profit (AVCO below Rp 80)  ·  Red = underwater  ·  % = unrealized profit or loss vs current price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16152"/>
            <a:ext cx="10966399" cy="4937760"/>
          </a:xfrm>
          <a:prstGeom prst="rect">
            <a:avLst/>
          </a:prstGeom>
        </p:spPr>
      </p:pic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SD / Conviction Analysis  —  Accumulation Behaviour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σ ≤ 15 = disciplined zone buyers  ·  σ &gt; 25 = price-chasers  ·  Tightest = within last 6 months (bullish)  ·  Rel σ (σ÷market σ) on Bell Curve slide — &lt;1.0 = tighter than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16152"/>
            <a:ext cx="3564026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252728"/>
            <a:ext cx="338114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TIGHT  σ ≤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2648" y="1508760"/>
          <a:ext cx="3566160" cy="4663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676656"/>
                <a:gridCol w="475488"/>
                <a:gridCol w="512064"/>
                <a:gridCol w="694944"/>
                <a:gridCol w="56692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AVCO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Tightest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Range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YJ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Rp93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10.7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168.0M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Jul '26 (R)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82–103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CD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Rp117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9.6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18.0M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Mar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107–126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SS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Rp95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11.6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6.7M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Jan '26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83–106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AI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Rp90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5.5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6.2M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Feb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85–96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AZ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Rp84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8.2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4.9M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Jul '26 (R)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76–92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IN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Rp81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5.4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3.0M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Apr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76–87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PG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Rp96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6.2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2.9M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89–102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LS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Rp70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5.6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2.8M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Mar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65–76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Rp97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12.4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2.5M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May '26 (R)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85–109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EL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Rp95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5.6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2.5M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Apr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89–100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…+17 more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313834" y="1216152"/>
            <a:ext cx="3564026" cy="256032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3562" y="1252728"/>
            <a:ext cx="338114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MODERATE  σ 16-25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13834" y="1508760"/>
          <a:ext cx="3566160" cy="4663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676656"/>
                <a:gridCol w="475488"/>
                <a:gridCol w="512064"/>
                <a:gridCol w="694944"/>
                <a:gridCol w="56692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AVCO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Tightest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Range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KK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Rp92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24.8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82.8M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Jul '26 (R)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68–117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PD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Rp92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23.9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36.4M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Jul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68–116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TP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Rp82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23.7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24.5M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Mar '26 (R)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59–106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BQ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Rp87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19.3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14.8M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Jul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68–106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TS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Rp117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16.0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10.4M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101–133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YB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Rp90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23.3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8.0M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Jul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67–114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AG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Rp96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24.6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3.1M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Mar '26 (R)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72–121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AK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Rp83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23.4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2.9M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Jun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59–106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Rp93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19.2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2.7M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Feb '26 (R)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73–112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IF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Rp99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18.4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2.6M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May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81–117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…+2 more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015020" y="1216152"/>
            <a:ext cx="3564026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4748" y="1252728"/>
            <a:ext cx="338114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WIDE / EXTREME  σ&gt;25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015020" y="1508760"/>
          <a:ext cx="3566160" cy="4663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676656"/>
                <a:gridCol w="475488"/>
                <a:gridCol w="512064"/>
                <a:gridCol w="694944"/>
                <a:gridCol w="56692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C0392B"/>
                    </a:solidFill>
                    <a:lnL w="6350">
                      <a:solidFill>
                        <a:srgbClr val="AC2517"/>
                      </a:solidFill>
                    </a:lnL>
                    <a:lnR w="6350">
                      <a:solidFill>
                        <a:srgbClr val="AC2517"/>
                      </a:solidFill>
                    </a:lnR>
                    <a:lnT w="6350">
                      <a:solidFill>
                        <a:srgbClr val="AC2517"/>
                      </a:solidFill>
                    </a:lnT>
                    <a:lnB w="6350">
                      <a:solidFill>
                        <a:srgbClr val="AC251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AVCO</a:t>
                      </a:r>
                    </a:p>
                  </a:txBody>
                  <a:tcPr>
                    <a:solidFill>
                      <a:srgbClr val="C0392B"/>
                    </a:solidFill>
                    <a:lnL w="6350">
                      <a:solidFill>
                        <a:srgbClr val="AC2517"/>
                      </a:solidFill>
                    </a:lnL>
                    <a:lnR w="6350">
                      <a:solidFill>
                        <a:srgbClr val="AC2517"/>
                      </a:solidFill>
                    </a:lnR>
                    <a:lnT w="6350">
                      <a:solidFill>
                        <a:srgbClr val="AC2517"/>
                      </a:solidFill>
                    </a:lnT>
                    <a:lnB w="6350">
                      <a:solidFill>
                        <a:srgbClr val="AC251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</a:t>
                      </a:r>
                    </a:p>
                  </a:txBody>
                  <a:tcPr>
                    <a:solidFill>
                      <a:srgbClr val="C0392B"/>
                    </a:solidFill>
                    <a:lnL w="6350">
                      <a:solidFill>
                        <a:srgbClr val="AC2517"/>
                      </a:solidFill>
                    </a:lnL>
                    <a:lnR w="6350">
                      <a:solidFill>
                        <a:srgbClr val="AC2517"/>
                      </a:solidFill>
                    </a:lnR>
                    <a:lnT w="6350">
                      <a:solidFill>
                        <a:srgbClr val="AC2517"/>
                      </a:solidFill>
                    </a:lnT>
                    <a:lnB w="6350">
                      <a:solidFill>
                        <a:srgbClr val="AC251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C0392B"/>
                    </a:solidFill>
                    <a:lnL w="6350">
                      <a:solidFill>
                        <a:srgbClr val="AC2517"/>
                      </a:solidFill>
                    </a:lnL>
                    <a:lnR w="6350">
                      <a:solidFill>
                        <a:srgbClr val="AC2517"/>
                      </a:solidFill>
                    </a:lnR>
                    <a:lnT w="6350">
                      <a:solidFill>
                        <a:srgbClr val="AC2517"/>
                      </a:solidFill>
                    </a:lnT>
                    <a:lnB w="6350">
                      <a:solidFill>
                        <a:srgbClr val="AC251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Tightest</a:t>
                      </a:r>
                    </a:p>
                  </a:txBody>
                  <a:tcPr>
                    <a:solidFill>
                      <a:srgbClr val="C0392B"/>
                    </a:solidFill>
                    <a:lnL w="6350">
                      <a:solidFill>
                        <a:srgbClr val="AC2517"/>
                      </a:solidFill>
                    </a:lnL>
                    <a:lnR w="6350">
                      <a:solidFill>
                        <a:srgbClr val="AC2517"/>
                      </a:solidFill>
                    </a:lnR>
                    <a:lnT w="6350">
                      <a:solidFill>
                        <a:srgbClr val="AC2517"/>
                      </a:solidFill>
                    </a:lnT>
                    <a:lnB w="6350">
                      <a:solidFill>
                        <a:srgbClr val="AC251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Range</a:t>
                      </a:r>
                    </a:p>
                  </a:txBody>
                  <a:tcPr>
                    <a:solidFill>
                      <a:srgbClr val="C0392B"/>
                    </a:solidFill>
                    <a:lnL w="6350">
                      <a:solidFill>
                        <a:srgbClr val="AC2517"/>
                      </a:solidFill>
                    </a:lnL>
                    <a:lnR w="6350">
                      <a:solidFill>
                        <a:srgbClr val="AC2517"/>
                      </a:solidFill>
                    </a:lnR>
                    <a:lnT w="6350">
                      <a:solidFill>
                        <a:srgbClr val="AC2517"/>
                      </a:solidFill>
                    </a:lnT>
                    <a:lnB w="6350">
                      <a:solidFill>
                        <a:srgbClr val="AC2517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Rp92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37.8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376.1M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Jul '26 (R)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55–130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CC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Rp91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26.3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170.9M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Jul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64–117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YP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Rp93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70.6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166.9M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Jul '26 (R)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22–164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XC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Rp94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35.9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96.5M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Jul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58–130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NI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Rp97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33.2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53.8M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Jul '26 (R)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64–130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EP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Rp93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33.8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39.2M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Jul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59–127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LG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Rp89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26.5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37.0M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Jul '26 (R)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62–115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AT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Rp145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50.0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32.3M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Jul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95–195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OD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Rp94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98.3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23.0M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Jul '26 (R)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0–192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SQ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Rp90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49.1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20.9M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Jul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41–140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…+14 more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Bell Curves  —  Accumulation Distribution by Conviction Tier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rial"/>
              </a:rPr>
              <a:t>Narrow peak = disciplined buyer (high conviction)  ·  Flat curve = no price discipline  ·  3 panels — one per σ tier  ·  Each panel has its own zoomed x-axis  ·  Red dashed = current price  ·  Curve normalized to peak = 1.0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16152"/>
            <a:ext cx="10966399" cy="2423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" y="3685032"/>
            <a:ext cx="365546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B7A3E"/>
                </a:solidFill>
                <a:latin typeface="Arial"/>
              </a:rPr>
              <a:t>YJ σ11  ·  CD σ10  ·  SS σ12  ·  AI σ6  ·  AZ σ8  ·  IN σ5  ·  PG σ6  ·  LS σ6  ·  RB σ12  ·  EL σ6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8114" y="3685032"/>
            <a:ext cx="365546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F5FA6"/>
                </a:solidFill>
                <a:latin typeface="Arial"/>
              </a:rPr>
              <a:t>KK σ25  ·  PD σ24  ·  TP σ24  ·  BQ σ19  ·  TS σ16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3580" y="3685032"/>
            <a:ext cx="365546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C0392B"/>
                </a:solidFill>
                <a:latin typeface="Arial"/>
              </a:rPr>
              <a:t>XL σ38  ·  CC σ26  ·  YP σ71  ·  XC σ36  ·  NI σ33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4078224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4114800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σ Evolution — Top 5 by Shares  ·  σ = buy-price std deviation (lower = more focused zone buying)  ·  Trend = σ 30d vs σ 180d (Tightening = buying more focused recently)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2648" y="4370832"/>
          <a:ext cx="10058400" cy="1828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188720"/>
                <a:gridCol w="1005840"/>
                <a:gridCol w="1005840"/>
                <a:gridCol w="1005840"/>
                <a:gridCol w="1005840"/>
                <a:gridCol w="914400"/>
                <a:gridCol w="228600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 All-time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 30d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 90d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 180d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Rel σ 30d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Trend (30d vs 180d)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314553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376.1M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37.8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4.4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14.3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13.9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1.06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6B3A"/>
                          </a:solidFill>
                          <a:latin typeface="Arial"/>
                        </a:rPr>
                        <a:t>Tightening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4553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CC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170.9M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26.3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4.8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14.2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14.4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1.16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6B3A"/>
                          </a:solidFill>
                          <a:latin typeface="Arial"/>
                        </a:rPr>
                        <a:t>Tightening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4553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YJ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168.0M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10.7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6.2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11.7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10.4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C0392B"/>
                          </a:solidFill>
                          <a:latin typeface="Arial"/>
                        </a:rPr>
                        <a:t>1.51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6B3A"/>
                          </a:solidFill>
                          <a:latin typeface="Arial"/>
                        </a:rPr>
                        <a:t>Tightening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4553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YP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166.9M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70.6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3.9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16.4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16.6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0.95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6B3A"/>
                          </a:solidFill>
                          <a:latin typeface="Arial"/>
                        </a:rPr>
                        <a:t>Tightening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4553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XC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96.5M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35.9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4.2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14.2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17.9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1.02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6B3A"/>
                          </a:solidFill>
                          <a:latin typeface="Arial"/>
                        </a:rPr>
                        <a:t>Tightening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Broker Regime Map  —  30d vs 180d Net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7406640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72237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rial"/>
              </a:rPr>
              <a:t>X = 30d net flow %  ·  Y = 180d net flow %  ·  Bubble ∝ ownership %  ·  Green=Accumulating  ·  Orange=Regime Change  ·  Red=Distributing  ·  Blue=Flipped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8110727" y="914400"/>
            <a:ext cx="346831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0455" y="950976"/>
            <a:ext cx="3285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Detail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16152"/>
            <a:ext cx="7406640" cy="49377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110727" y="1216152"/>
          <a:ext cx="3291840" cy="4937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188720"/>
                <a:gridCol w="118872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30d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180d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-3.2%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-4.2%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CC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+0.9%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+45.2%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YJ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+13.5%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+90.9%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YP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-1.3%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-10.3%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XC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-2.8%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-4.1%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KK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+2.0%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+25.0%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NI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-2.8%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+12.4%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EP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+1.4%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+19.7%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LG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+29.0%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+16.4%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PD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+10.9%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+8.9%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Investment Thesis  —  MEJA at Rp 80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539175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520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Bullish Signals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87287" y="914400"/>
            <a:ext cx="5391759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97015" y="950976"/>
            <a:ext cx="520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Tactical Caution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1362456"/>
            <a:ext cx="36576" cy="365760"/>
          </a:xfrm>
          <a:prstGeom prst="rect">
            <a:avLst/>
          </a:prstGeom>
          <a:solidFill>
            <a:srgbClr val="21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307592"/>
            <a:ext cx="523631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AVCO median Rp 94 — price is BELOW median broker cost.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075688"/>
            <a:ext cx="36576" cy="365760"/>
          </a:xfrm>
          <a:prstGeom prst="rect">
            <a:avLst/>
          </a:prstGeom>
          <a:solidFill>
            <a:srgbClr val="21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2020824"/>
            <a:ext cx="523631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Top 10 brokers hold 47.1% of total shares — concentrated, large incremental moves possible.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7287" y="1362456"/>
            <a:ext cx="36576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7015" y="1307592"/>
            <a:ext cx="523631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Net unrealized loss -Rp21.13B — underwater positions create exit pressure on rallies.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287" y="2075688"/>
            <a:ext cx="36576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7015" y="2020824"/>
            <a:ext cx="523631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Only 40/72 brokers profitable — elevated distribution risk.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7287" y="2788920"/>
            <a:ext cx="36576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7015" y="2734056"/>
            <a:ext cx="523631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Named &lt;5% holders (9.4%) = direct KSEI holders (creditor conversions, IPO allotments, or pre-IPO investors — entry price varies) — exit adds unexpected supply.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Ownership Reconciliation &amp;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Share Count Reconciliation  —  3-Tier Ownership Model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216152"/>
          <a:ext cx="10972800" cy="25603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188720"/>
                <a:gridCol w="868680"/>
                <a:gridCol w="608076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46085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Strategic ≥5% (founders/pre-IPO)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1.03B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39.31%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KSEI direct — never in broker flow, zero overlap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085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Named &lt;5% (direct KSEI — creditor/allotment/pre-IPO)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245.2M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9.40%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May overlap broker float — entry cost varies by holder type (shown gross)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085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Broker-tracked float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1.53B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58.56%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Raw broker flow data — may overlap with named &lt;5% holders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085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Untracked (KSEI, unidentified)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0.00%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Not in named list or broker data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085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TOTAL SHARES OUTSTANDING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2.61B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100.00%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Fully reconciled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12648" y="3913632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3950208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Methodology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4261103"/>
            <a:ext cx="36576" cy="347472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4215383"/>
            <a:ext cx="10829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Arial"/>
              </a:rPr>
              <a:t>AVCO: price-correlated lot matching — on SELL at price P, consume the lot with min |buy_price − P|. Correct for aggregate broker data; raw FIFO and equal-weight AVCO both produce incorrect basis.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4828031"/>
            <a:ext cx="36576" cy="347472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4782312"/>
            <a:ext cx="10829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Arial"/>
              </a:rPr>
              <a:t>Gross flows: Stockbit Net-OFF — separate BUY/SELL rows per broker per day. Data: 2024-02-12 → 2026-07-16 (495 days).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" y="5394959"/>
            <a:ext cx="36576" cy="347472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5349240"/>
            <a:ext cx="10829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Arial"/>
              </a:rPr>
              <a:t>Corporate actions: applied in-queue on recording date. Forward splits/bonus: lots ×multiplier, prices ×(1/multiplier). Reverse splits: lots ÷multiplier, prices ×multiplier. No post-hoc factor.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" y="5961888"/>
            <a:ext cx="36576" cy="347472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5916168"/>
            <a:ext cx="10829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Arial"/>
              </a:rPr>
              <a:t>Realized P&amp;L: realized_pnl_rp from holdings_final.csv (LotQueue). NOT avco_realized — can differ by billions on high-volume brokers.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Broker Intelligence — VWAP Alpha &amp; Ownership Clustering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VWAP alpha &lt; 0 = broker buys cheaper than market average  ·  r &gt; 0.50 shown  ·  r ≥ 0.70 + both non-MM = amber (strong same-owner signal)  ·  Negative r = counterparty/transfer behavior, not co-ownership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1615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212E"/>
                </a:solidFill>
                <a:latin typeface="Arial"/>
              </a:rPr>
              <a:t>BUY VWAP ALPHA  vs market  (all history)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648" y="1490472"/>
          <a:ext cx="4480560" cy="4434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822960"/>
                <a:gridCol w="822960"/>
                <a:gridCol w="731520"/>
                <a:gridCol w="73152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Mean α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Days&lt;Mkt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t-stat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Buy days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PS MM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-19.467%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68%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-2.4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CP MM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-13.549%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61%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-4.7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AR MM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+0.901%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55%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+0.1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BQ MM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+14.519%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51%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+1.5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SA MM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+25.042%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47%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+1.0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IH MM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+31.499%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+1.1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IN PPE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+41.289%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+3.5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QA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+63.557%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19%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+6.0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SF PPE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+65.686%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+2.6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RS MM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+83.855%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32%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+3.6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HP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+85.367%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26%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+6.6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MG MM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+88.601%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+3.2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XA PPE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+90.118%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35%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+3.9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EP MM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+90.969%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44%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+3.7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279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YJ CHN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+96.765%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54%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+1.5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96328" y="1216152"/>
            <a:ext cx="4382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212E"/>
                </a:solidFill>
                <a:latin typeface="Arial"/>
              </a:rPr>
              <a:t>CORRELATED BROKER PAIRS  (same owner signal)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96328" y="1490472"/>
          <a:ext cx="338328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640080"/>
                <a:gridCol w="685800"/>
                <a:gridCol w="77724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Pair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Overlap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Roles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AI/AO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+0.567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104d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DIS|DIS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CD/IF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+0.561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68d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TRA|MAR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SQ/XC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+0.511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405d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MAR|STR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96328" y="6062472"/>
            <a:ext cx="43827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77777"/>
                </a:solidFill>
                <a:latin typeface="Arial"/>
              </a:rPr>
              <a:t>★ AMBER = r ≥ 0.70 + both non-MM roles = likely single owner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