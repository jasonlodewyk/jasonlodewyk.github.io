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SINI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395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DF2"/>
                </a:solidFill>
                <a:latin typeface="Arial"/>
              </a:rPr>
              <a:t>PT Singaraja Putra Tbk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92608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C"/>
                </a:solidFill>
                <a:latin typeface="Arial"/>
              </a:rPr>
              <a:t>IDX Broker Flow Intelligence  ·  AVCO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6975" y="1024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A8C4"/>
                </a:solidFill>
                <a:latin typeface="Arial"/>
              </a:rPr>
              <a:t>16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6975" y="1371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4B83C"/>
                </a:solidFill>
                <a:latin typeface="Arial"/>
              </a:rPr>
              <a:t>Rp 5,842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184708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ABC"/>
                </a:solidFill>
                <a:latin typeface="Arial"/>
              </a:rPr>
              <a:t>Current Price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401568"/>
            <a:ext cx="10966399" cy="0"/>
          </a:xfrm>
          <a:prstGeom prst="line">
            <a:avLst/>
          </a:prstGeom>
          <a:noFill/>
          <a:ln w="9525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Strategic Block (≥5%)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61264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74.2%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3584448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2" name="TextBox 10001"/>
          <p:cNvSpPr txBox="1"/>
          <p:nvPr/>
        </p:nvSpPr>
        <p:spPr>
          <a:xfrm>
            <a:off x="431596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Broker-Tracked Float</a:t>
            </a:r>
          </a:p>
        </p:txBody>
      </p:sp>
      <p:sp>
        <p:nvSpPr>
          <p:cNvPr id="10003" name="TextBox 10002"/>
          <p:cNvSpPr txBox="1"/>
          <p:nvPr/>
        </p:nvSpPr>
        <p:spPr>
          <a:xfrm>
            <a:off x="431596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27.6%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4" name="TextBox 10003"/>
          <p:cNvSpPr txBox="1"/>
          <p:nvPr/>
        </p:nvSpPr>
        <p:spPr>
          <a:xfrm>
            <a:off x="801928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Named &lt;5% Holders</a:t>
            </a:r>
          </a:p>
        </p:txBody>
      </p:sp>
      <p:sp>
        <p:nvSpPr>
          <p:cNvPr id="10005" name="TextBox 10004"/>
          <p:cNvSpPr txBox="1"/>
          <p:nvPr/>
        </p:nvSpPr>
        <p:spPr>
          <a:xfrm>
            <a:off x="801928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4.1%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6" name="TextBox 10005"/>
          <p:cNvSpPr txBox="1"/>
          <p:nvPr/>
        </p:nvSpPr>
        <p:spPr>
          <a:xfrm>
            <a:off x="61264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Realized P&amp;L</a:t>
            </a:r>
          </a:p>
        </p:txBody>
      </p:sp>
      <p:sp>
        <p:nvSpPr>
          <p:cNvPr id="10007" name="TextBox 10006"/>
          <p:cNvSpPr txBox="1"/>
          <p:nvPr/>
        </p:nvSpPr>
        <p:spPr>
          <a:xfrm>
            <a:off x="61264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+Rp525.18B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4517136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8" name="TextBox 10007"/>
          <p:cNvSpPr txBox="1"/>
          <p:nvPr/>
        </p:nvSpPr>
        <p:spPr>
          <a:xfrm>
            <a:off x="431596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Combined P&amp;L</a:t>
            </a:r>
          </a:p>
        </p:txBody>
      </p:sp>
      <p:sp>
        <p:nvSpPr>
          <p:cNvPr id="10009" name="TextBox 10008"/>
          <p:cNvSpPr txBox="1"/>
          <p:nvPr/>
        </p:nvSpPr>
        <p:spPr>
          <a:xfrm>
            <a:off x="431596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+Rp169.33B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10" name="TextBox 10009"/>
          <p:cNvSpPr txBox="1"/>
          <p:nvPr/>
        </p:nvSpPr>
        <p:spPr>
          <a:xfrm>
            <a:off x="801928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Profitable Brokers</a:t>
            </a:r>
          </a:p>
        </p:txBody>
      </p:sp>
      <p:sp>
        <p:nvSpPr>
          <p:cNvPr id="10011" name="TextBox 10010"/>
          <p:cNvSpPr txBox="1"/>
          <p:nvPr/>
        </p:nvSpPr>
        <p:spPr>
          <a:xfrm>
            <a:off x="801928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29/69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2A4468"/>
            </a:solidFill>
          </a:ln>
        </p:spPr>
        <p:txBody>
          <a:bodyPr/>
          <a:lstStyle/>
          <a:p/>
        </p:txBody>
      </p:sp>
      <p:sp>
        <p:nvSpPr>
          <p:cNvPr id="10012" name="TextBox 10011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4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13" name="TextBox 10012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A8C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44805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4480560" cy="493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178308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Market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5,842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Block (≥5%)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74.2%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27.6%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Median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9,500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Overhead Supply?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Realized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+Rp525.18B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Unrealized P&amp;L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-Rp355.85B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Combined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+Rp169.33B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Profitable Brokers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29 / 69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5 Concentration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10 Concentration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21.7%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Trading Days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1498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Data Range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2019-11-08 → 2026-07-15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276088" y="914400"/>
            <a:ext cx="63029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85816" y="950976"/>
            <a:ext cx="6120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6088" y="138074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32588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Median broker cost Rp 9,500 vs market Rp 5,842 — price is below average break-even.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76088" y="208483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02996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3-tier ownership: 74.2% strategic (KSEI direct), 4.1% named &lt;5%, 27.6% broker-tracked float.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6088" y="2788920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734056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combined P&amp;L: +Rp169.33B — 29 of 69 brokers profitable at current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6088" y="3493008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438144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P&amp;L: +Rp525.18B banked — provides cushion against paper losses.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4197096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4142232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21.7% of exchange float — moderately concentrated.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8" y="490118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84632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Largest holder: XL at 4.42%, AVCO Rp 11,296, unrealized -Rp116.09B.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88" y="560527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555040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Price controllers (last 6m): LG · HP · AZ — LG (Rp6,635 σ2160, lead r=+0.32, Structural) | HP (Rp5,271 σ2878, lead r=-0.00, Support). Identified via buy-lead correlation with next-day price returns.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Identification  —  LG · HP · AZ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35661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Identification Methodology  —  Last 6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914400"/>
            <a:ext cx="72173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71416" y="950976"/>
            <a:ext cx="70344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Candidate Comparison  —  sorted by MM Score  ·  Lead ≥ 0.12 or Floor ≥ 55% or Buy% ≥ 75% =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07592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27101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1 — Gross Flow Value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broker gross_vol ÷ max broker gross_vol in same window. The broker that transacts the most total value (buy + sell) is the price-setter on IDX — MMs dominate volume, not just direction. Top traders by value score highest.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112264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75688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2 — Daily Consistency (30%)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295144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buy_presence = buy_days ÷ total trading days in 6m window. Real MMs show up almost every session. ≥ 50% gate to enter top-3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916936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880360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3 — Price Correlation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099815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Max(lead_corr, contemp_corr) t-stat weighted. Confirms the MM is actually moving price, not just providing neutral liquidity. Distributor penalty: zeroed if lead &lt; −0.15 (buying before own price drops = distribution).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721607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685031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★ Net/Gross Ratio — Insider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904487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Net shares held ÷ 6-month gross flow. High ratio (&gt;0.30) = broker accumulates quietly without churning — classic informed-money pattern. Purple-tinted rows in table — NOT selected as MM but flagged as potential insiders. Note: numerator is all-time, denominator is 6m.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26279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489703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XC/XL — Retail Aggregators, NOT Excluded from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709159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XL (Stockbit) and XC (Ajaib) are excluded from MM SCORING only — their gross volume is retail aggregation, not structural price control. However they are NOT excluded from VWAP Alpha or correlation analysis (slide 17). The XC/XL correlation pair should be treated as ambiguous: could be retail co-movement or same beneficial owner routing through two platforms. Cannot be ruled out as insiders without KSEI account-level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36752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4A6E"/>
                </a:solidFill>
                <a:latin typeface="Arial"/>
              </a:rPr>
              <a:t>Selected: LG · HP · AZ — top 3 by MM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56869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444444"/>
                </a:solidFill>
                <a:latin typeface="Arial"/>
              </a:rPr>
              <a:t>Green = Selected MM (biggest gross flow + daily presence)   |   Purple tint ★ = Quiet Accumulator (high Net/Gross, insider-like)   |   Amber = P&amp;D Operator   |   Tan = Retail Aggregator (excl.)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361688" y="1216152"/>
          <a:ext cx="6455664" cy="4937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13232"/>
                <a:gridCol w="566928"/>
                <a:gridCol w="749808"/>
                <a:gridCol w="475488"/>
                <a:gridCol w="685800"/>
                <a:gridCol w="685800"/>
                <a:gridCol w="749808"/>
                <a:gridCol w="530352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Lead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Contemp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Buy%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Pos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Net/Gross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+0.323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-0.139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113.1M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14.4M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0.127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81.8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-0.002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-0.010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100.1M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2.0M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0.020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63.3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+0.041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-0.005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31.9M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12.0M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0.376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40.6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+0.032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+0.003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26.0M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0.189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39.3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+0.061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-0.163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11.1M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7.5M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0.678★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31.4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-0.064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+0.165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9.6M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10.7M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1.110★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30.8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+0.014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-0.134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10.3M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4.1M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0.402★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30.7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-0.113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+0.040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893K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0.119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27.9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-0.073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+0.081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622K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0.139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26.0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-0.089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-0.106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2.3M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1.4M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0.615★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25.8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3000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+0.149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+0.043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47.3M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1.9M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0.040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48.4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+0.102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-0.048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5.5M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3.1M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0.318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-0.158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+0.118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56.8M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21.3M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0.326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Deep Dive  —  LG · HP · AZ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Price controllers identified via buy-lead correlation with next-day price (last 6m)  ·  Tight zone = month with lowest buy-price σ  ·  Distribution = sell-dominant periods (≥3% net sold)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LG  Lokal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14.4M  (3.00%)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14.8M  (3.08%)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+0M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Rp5,115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455.3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Rp4,660 – Rp5,570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Rp12,467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2975.2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Rp9,492 – Rp15,442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NET BUYING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16B3A"/>
                          </a:solidFill>
                          <a:latin typeface="Arial"/>
                        </a:rPr>
                        <a:t>+0.3M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+2.00%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Rp5,113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σ444.3  — Wide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297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HP  Lokal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2.0M  (0.41%)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18.4M  (3.82%)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+16M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Rp5,002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59.6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Rp4,942 – Rp5,062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Rp7,216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3773.1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Rp3,443 – Rp10,989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-0.0M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-0.67%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Rp5,002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σ51.7  — Wide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3330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AZ  Lokal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12.0M  (2.50%)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25.8M  (5.37%)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+14M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Rp6,427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766.8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Rp5,660 – Rp7,194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Rp9,312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4309.0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Rp5,003 – Rp13,621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-7.3M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-60.62%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Rp5,827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σ506.6  — Wide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Pre-Move Accumulation — Insider Confidence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Who loaded up 1–3 weeks before price surged ≥15%  ·  last 12 months  ·  min 5M shares  ·  min 5 active days  ·  Hit% = surges front-ran ÷ total surges detected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71323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502920"/>
                <a:gridCol w="1234440"/>
                <a:gridCol w="2331720"/>
                <a:gridCol w="1508760"/>
                <a:gridCol w="9601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Week End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Surge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VWAP Rp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Pre-Buyers (21d)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Day 1 Entry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14691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2026-02-02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14,045→18,700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LG(11.9M)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+662%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4691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2026-01-15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12,000→17,715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NI(19.4M) · HP(8.6M) · LG(5.9M)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LG(2.8M)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&gt;999%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4691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2026-01-06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+187%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4,917→14,130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HP(9.0M)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NI(19.2M) · HP(9.2M)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062472"/>
            <a:ext cx="7132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77777"/>
                </a:solidFill>
                <a:latin typeface="Arial"/>
              </a:rPr>
              <a:t>* retail aggregator (Ajaib/Stockbit) — volume is real but not coordinated  ·  Pos% uses first signal broker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8" y="1216152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TOP 3 SIGNAL BROKERS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7848" y="1435608"/>
          <a:ext cx="251460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329184"/>
                <a:gridCol w="402336"/>
                <a:gridCol w="621792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+1839%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+3262%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27848" y="2368296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ACCUMULATION RANKING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27848" y="2606039"/>
          <a:ext cx="3154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92608"/>
                <a:gridCol w="384048"/>
                <a:gridCol w="475488"/>
                <a:gridCol w="475488"/>
                <a:gridCol w="93268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3281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+1839%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INFORMED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3281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+3262%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43281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27848" y="4297679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2020"/>
                </a:solidFill>
                <a:latin typeface="Arial"/>
              </a:rPr>
              <a:t>POST-SURGE DISTRIBUTORS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4535423"/>
            <a:ext cx="3651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Arial"/>
              </a:rPr>
              <a:t>No significant distribution
detected post-surge.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640080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Shareholder Breakdown  —  3-Tier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96328" y="914400"/>
            <a:ext cx="43827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6056" y="950976"/>
            <a:ext cx="4199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Named Shareholders  &gt;1%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621792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216152"/>
          <a:ext cx="428853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31520"/>
                <a:gridCol w="658368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Holder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PT Autum Prima Indonesia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144.3M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PT Kreasi Jasa Persada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94.9M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19.74%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Batubara Development Pte Ltd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74.5M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15.49%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Hapsoro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43.3M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9.00%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Susan Hioe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14.4M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Albert Kurniawan Budi 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Holdings  — 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Exchange Float  ·  Top 10 Brokers  ·  27.6% of total shares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419856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280160"/>
                <a:gridCol w="1005840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21.3M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4.42%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4.35%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14.4M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12.0M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2.50%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10.7M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2.22%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7.5M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1.56%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0.86%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0.65%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Cost Basis  —  Top 20 Brokers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AVCO  ·  Price-correlated lot matching (sell at P → consume lot nearest to P)  ·  69 brokers total  ·  Current price Rp 5,842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8961120" cy="480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188720"/>
                <a:gridCol w="1097280"/>
                <a:gridCol w="658368"/>
                <a:gridCol w="1170432"/>
                <a:gridCol w="1417320"/>
                <a:gridCol w="1417320"/>
                <a:gridCol w="14173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Combined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21.3M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4.42%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Rp11,296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+Rp2.32B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-Rp116.09B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-Rp113.77B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4.35%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Rp5,109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+Rp4.10B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+Rp15.32B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+Rp19.42B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14.4M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Rp6,635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-Rp11.44B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-Rp10.29B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12.0M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2.50%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Rp6,382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+Rp26.99B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-Rp6.49B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+Rp20.50B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2.22%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Rp7,996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-Rp3.64B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-Rp23.01B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-Rp26.65B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1.56%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Rp10,459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+Rp3.08B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-Rp34.75B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-Rp31.67B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1.09%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Rp11,967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-Rp32.10B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-Rp31.95B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1.02%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Rp10,020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-Rp0.53B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-Rp20.57B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-Rp21.10B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0.86%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Rp8,962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+Rp2.99B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-Rp12.85B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-Rp9.86B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Rp10,897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+Rp0.82B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-Rp15.79B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-Rp14.96B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Rp2,613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+Rp1.32B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+Rp7.64B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+Rp8.96B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Rp11,756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+Rp43.94B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-Rp13.23B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+Rp30.71B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Rp11,775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+Rp2.98B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-Rp12.45B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-Rp9.47B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Rp5,271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+Rp94.28B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+Rp95.42B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0.40%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Rp13,689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-Rp14.96B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-Rp13.85B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Rp9,832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-Rp2.22B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-Rp7.56B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-Rp9.78B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BQ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Rp4,929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+Rp27.46B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+Rp1.65B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+Rp29.10B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Rp8,702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+Rp0.10B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-Rp4.10B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-Rp4.00B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Rp10,047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+Rp1.81B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-Rp5.93B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-Rp4.12B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IF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Rp9,701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-Rp5.07B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-Rp4.86B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Combined P&amp;L  —  Realized + Unrealized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Realized: +Rp525.18B  ·  Unrealized: -Rp355.85B  ·  Combined: +Rp169.33B  ·  29/69 profitable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Distribution  —  Where Did the Top 10 Buy?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Top 10 by shares  ·  Bar = buying range (AVCO ± 1σ)  ·  Tick = average cost (AVCO)  ·  Blue = in profit (AVCO below Rp 5,842)  ·  Red = underwater  ·  % = unrealized profit or loss vs current price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SD / Conviction Analysis  —  Accumulation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≤ 15 = disciplined zone buyers  ·  σ &gt; 25 = price-chasers  ·  Tightest = within last 6 months (bullish)  ·  Rel σ (σ÷market σ) on Bell Curve slide — &lt;1.0 = tighter than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16152"/>
            <a:ext cx="3564026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TIGHT  σ ≤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508760"/>
          <a:ext cx="35661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20370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Rp876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45K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865–886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0370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MU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Rp793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31K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786–800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13834" y="1216152"/>
            <a:ext cx="3564026" cy="25603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3562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MODERATE  σ 16-25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13834" y="1508760"/>
          <a:ext cx="35661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440740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15020" y="1216152"/>
            <a:ext cx="3564026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4748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WIDE / EXTREME  σ&gt;25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15020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Rp11,296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3974.2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21.3M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7322–15270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Rp5,109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1872.4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3237–6982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Rp6,635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2160.1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4474–8795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Rp6,382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3420.3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2962–9802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Rp7,996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5685.2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2311–13681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Rp10,459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5131.7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5328–15591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Rp11,967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2418.7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9548–14385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Rp10,020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3129.9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6890–13150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Rp8,962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1712.2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Jan '26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7250–10674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Rp10,897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5556.8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5341–16454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…+46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Bell Curves  —  Accumulation Distribution by Conviction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Narrow peak = disciplined buyer (high conviction)  ·  Flat curve = no price discipline  ·  3 panels — one per σ tier  ·  Each panel has its own zoomed x-axis  ·  Red dashed = current price  ·  Curve normalized to peak = 1.0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B7A3E"/>
                </a:solidFill>
                <a:latin typeface="Arial"/>
              </a:rPr>
              <a:t>SF σ10  ·  MU σ7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114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5FA6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580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0392B"/>
                </a:solidFill>
                <a:latin typeface="Arial"/>
              </a:rPr>
              <a:t>XL σ3974  ·  NI σ1872  ·  LG σ2160  ·  AZ σ3420  ·  PD σ5685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078224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114800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Evolution — Top 5 by Shares  ·  σ = buy-price std deviation (lower = more focused zone buying)  ·  Trend = σ 30d vs σ 180d (Tightening = buying more focused recently)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" y="4370832"/>
          <a:ext cx="10058400" cy="182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005840"/>
                <a:gridCol w="1005840"/>
                <a:gridCol w="1005840"/>
                <a:gridCol w="1005840"/>
                <a:gridCol w="914400"/>
                <a:gridCol w="228600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All-time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90d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 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Trend (30d vs 180d)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21.3M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3974.2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1624.9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3180.6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3620.8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1872.4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1668.6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3260.6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3219.8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0.88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14.4M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2160.1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509.9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1420.8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2402.6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16B3A"/>
                          </a:solidFill>
                          <a:latin typeface="Arial"/>
                        </a:rP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12.0M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3420.3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1077.1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3509.5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5083.5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16B3A"/>
                          </a:solidFill>
                          <a:latin typeface="Arial"/>
                        </a:rPr>
                        <a:t>0.57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10.7M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5685.2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1680.8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3266.3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4032.0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Regime Map  —  30d vs 180d Net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X = 30d net flow %  ·  Y = 180d net flow %  ·  Bubble ∝ ownership %  ·  Green=Accumulating  ·  Orange=Regime Change  ·  Red=Distributing  ·  Blue=Flipped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291840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+13.7%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+59.9%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+1.1%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+6.7%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-7.3%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-53.8%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-11.5%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+15.9%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+44.0%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+55.6%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+36.0%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+63.2%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-32.1%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+6.4%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+30.5%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Investment Thesis  —  SINI at Rp 5,842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53917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Bullish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7287" y="914400"/>
            <a:ext cx="5391759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97015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Tactical Caution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62456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median Rp 9,500 — price is BELOW median broker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075688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20824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armor: +Rp525.18B banked profit provides buffer.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788920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734056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21.7% of total shares — concentrated, large incremental moves 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362456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7015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Net unrealized loss -Rp355.85B — underwater positions create exit pressure on rallies.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2075688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7015" y="2020824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Only 29/69 brokers profitable — elevated distribution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2788920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7015" y="2734056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Named &lt;5% holders (4.1%) = direct KSEI holders (creditor conversions, IPO allotments, or pre-IPO investors — entry price varies) — exit adds unexpected supply.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Reconciliation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 Count Reconciliation  —  3-Tier Ownership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10972800" cy="256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868680"/>
                <a:gridCol w="608076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≥5% (founders/pre-IPO)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357.1M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74.23%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KSEI direct — never in broker flow, zero overlap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(direct KSEI — creditor/allotment/pre-IPO)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4.08%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May overlap broker float — entry cost varies by holder type (shown gross)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133.0M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27.65%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Raw broker flow data — may overlap with 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 (KSEI, unidentified)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Not in named list or broker data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TOTAL SHARES OUTSTANDING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481.0M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Fully reconciled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3913632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950208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4261103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215383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AVCO: price-correlated lot matching — on SELL at price P, consume the lot with min |buy_price − P|. Correct for aggregate broker data; raw FIFO and equal-weight AVCO both produce incorrect basis.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828031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4782312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Gross flows: Stockbit Net-OFF — separate BUY/SELL rows per broker per day. Data: 2019-11-08 → 2026-07-15 (1498 days).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5394959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49240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Corporate actions: applied in-queue on recording date. Forward splits/bonus: lots ×multiplier, prices ×(1/multiplier). Reverse splits: lots ÷multiplier, prices ×multiplier. No post-hoc 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5961888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916168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Realized P&amp;L: realized_pnl_rp from holdings_final.csv (LotQueue). NOT avco_realized — can differ by billions on high-volume brokers.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Intelligence — VWAP Alpha &amp; Ownership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VWAP alpha &lt; 0 = broker buys cheaper than market average  ·  r &gt; 0.50 shown  ·  r ≥ 0.70 + both non-MM = amber (strong same-owner signal)  ·  Negative r = counterparty/transfer behavior, not co-ownership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BUY VWAP ALPHA  vs market  (all history)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490472"/>
          <a:ext cx="4480560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731520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Mean α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Days&lt;Mkt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t-stat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Buy days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-2.097%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RB MM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-1.606%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-2.4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ES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-0.721%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CD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-0.692%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-0.631%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IU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-0.516%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-1.2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-0.173%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-0.127%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-0.102%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-0.019%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SH MM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+0.068%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PC PPE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+0.086%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+0.108%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DX MM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+0.233%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SA PPE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+0.562%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+0.6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96328" y="1216152"/>
            <a:ext cx="4382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CORRELATED BROKER PAIRS  (same owner signal)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490472"/>
          <a:ext cx="3383280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40080"/>
                <a:gridCol w="685800"/>
                <a:gridCol w="77724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Overlap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Roles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BQ/YU</a:t>
                      </a:r>
                    </a:p>
                  </a:txBody>
                  <a:tcPr>
                    <a:solidFill>
                      <a:srgbClr val="FFF3CD"/>
                    </a:solidFill>
                    <a:lnL w="6350">
                      <a:solidFill>
                        <a:srgbClr val="EBDFB9"/>
                      </a:solidFill>
                    </a:lnL>
                    <a:lnR w="6350">
                      <a:solidFill>
                        <a:srgbClr val="EBDFB9"/>
                      </a:solidFill>
                    </a:lnR>
                    <a:lnT w="6350">
                      <a:solidFill>
                        <a:srgbClr val="EBDFB9"/>
                      </a:solidFill>
                    </a:lnT>
                    <a:lnB w="6350">
                      <a:solidFill>
                        <a:srgbClr val="EBDFB9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+0.903</a:t>
                      </a:r>
                    </a:p>
                  </a:txBody>
                  <a:tcPr>
                    <a:solidFill>
                      <a:srgbClr val="FFF3CD"/>
                    </a:solidFill>
                    <a:lnL w="6350">
                      <a:solidFill>
                        <a:srgbClr val="EBDFB9"/>
                      </a:solidFill>
                    </a:lnL>
                    <a:lnR w="6350">
                      <a:solidFill>
                        <a:srgbClr val="EBDFB9"/>
                      </a:solidFill>
                    </a:lnR>
                    <a:lnT w="6350">
                      <a:solidFill>
                        <a:srgbClr val="EBDFB9"/>
                      </a:solidFill>
                    </a:lnT>
                    <a:lnB w="6350">
                      <a:solidFill>
                        <a:srgbClr val="EBDFB9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225d</a:t>
                      </a:r>
                    </a:p>
                  </a:txBody>
                  <a:tcPr>
                    <a:solidFill>
                      <a:srgbClr val="FFF3CD"/>
                    </a:solidFill>
                    <a:lnL w="6350">
                      <a:solidFill>
                        <a:srgbClr val="EBDFB9"/>
                      </a:solidFill>
                    </a:lnL>
                    <a:lnR w="6350">
                      <a:solidFill>
                        <a:srgbClr val="EBDFB9"/>
                      </a:solidFill>
                    </a:lnR>
                    <a:lnT w="6350">
                      <a:solidFill>
                        <a:srgbClr val="EBDFB9"/>
                      </a:solidFill>
                    </a:lnT>
                    <a:lnB w="6350">
                      <a:solidFill>
                        <a:srgbClr val="EBDFB9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MAR|TRA</a:t>
                      </a:r>
                    </a:p>
                  </a:txBody>
                  <a:tcPr>
                    <a:solidFill>
                      <a:srgbClr val="FFF3CD"/>
                    </a:solidFill>
                    <a:lnL w="6350">
                      <a:solidFill>
                        <a:srgbClr val="EBDFB9"/>
                      </a:solidFill>
                    </a:lnL>
                    <a:lnR w="6350">
                      <a:solidFill>
                        <a:srgbClr val="EBDFB9"/>
                      </a:solidFill>
                    </a:lnR>
                    <a:lnT w="6350">
                      <a:solidFill>
                        <a:srgbClr val="EBDFB9"/>
                      </a:solidFill>
                    </a:lnT>
                    <a:lnB w="6350">
                      <a:solidFill>
                        <a:srgbClr val="EBDFB9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HP/TP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-0.663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78d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MAR|TRA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NI/PG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-0.786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309d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ACC|TRA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CP/XA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-0.828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314d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DIS|MAR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96328" y="6062472"/>
            <a:ext cx="4382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rial"/>
              </a:rPr>
              <a:t>★ AMBER = r ≥ 0.70 + both non-MM roles = likely single owner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