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BRPT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95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F2"/>
                </a:solidFill>
                <a:latin typeface="Arial"/>
              </a:rPr>
              <a:t>PT Barito Pacific Tbk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92608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C"/>
                </a:solidFill>
                <a:latin typeface="Arial"/>
              </a:rPr>
              <a:t>IDX Broker Flow Intelligence  ·  AVCO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6975" y="1024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A8C4"/>
                </a:solidFill>
                <a:latin typeface="Arial"/>
              </a:rPr>
              <a:t>16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6975" y="1371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4B83C"/>
                </a:solidFill>
                <a:latin typeface="Arial"/>
              </a:rPr>
              <a:t>Rp 1,752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18470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ABC"/>
                </a:solidFill>
                <a:latin typeface="Arial"/>
              </a:rPr>
              <a:t>Current Price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401568"/>
            <a:ext cx="10966399" cy="0"/>
          </a:xfrm>
          <a:prstGeom prst="line">
            <a:avLst/>
          </a:prstGeom>
          <a:noFill/>
          <a:ln w="9525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Strategic Block (≥5%)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61264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71.4%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3584448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2" name="TextBox 10001"/>
          <p:cNvSpPr txBox="1"/>
          <p:nvPr/>
        </p:nvSpPr>
        <p:spPr>
          <a:xfrm>
            <a:off x="431596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Broker-Tracked Float</a:t>
            </a:r>
          </a:p>
        </p:txBody>
      </p:sp>
      <p:sp>
        <p:nvSpPr>
          <p:cNvPr id="10003" name="TextBox 10002"/>
          <p:cNvSpPr txBox="1"/>
          <p:nvPr/>
        </p:nvSpPr>
        <p:spPr>
          <a:xfrm>
            <a:off x="431596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19.8%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4" name="TextBox 10003"/>
          <p:cNvSpPr txBox="1"/>
          <p:nvPr/>
        </p:nvSpPr>
        <p:spPr>
          <a:xfrm>
            <a:off x="801928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Named &lt;5% Holders</a:t>
            </a:r>
          </a:p>
        </p:txBody>
      </p:sp>
      <p:sp>
        <p:nvSpPr>
          <p:cNvPr id="10005" name="TextBox 10004"/>
          <p:cNvSpPr txBox="1"/>
          <p:nvPr/>
        </p:nvSpPr>
        <p:spPr>
          <a:xfrm>
            <a:off x="801928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7.4%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6" name="TextBox 10005"/>
          <p:cNvSpPr txBox="1"/>
          <p:nvPr/>
        </p:nvSpPr>
        <p:spPr>
          <a:xfrm>
            <a:off x="61264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Realized P&amp;L</a:t>
            </a:r>
          </a:p>
        </p:txBody>
      </p:sp>
      <p:sp>
        <p:nvSpPr>
          <p:cNvPr id="10007" name="TextBox 10006"/>
          <p:cNvSpPr txBox="1"/>
          <p:nvPr/>
        </p:nvSpPr>
        <p:spPr>
          <a:xfrm>
            <a:off x="61264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+Rp6.1T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4517136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8" name="TextBox 10007"/>
          <p:cNvSpPr txBox="1"/>
          <p:nvPr/>
        </p:nvSpPr>
        <p:spPr>
          <a:xfrm>
            <a:off x="431596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Combined P&amp;L</a:t>
            </a:r>
          </a:p>
        </p:txBody>
      </p:sp>
      <p:sp>
        <p:nvSpPr>
          <p:cNvPr id="10009" name="TextBox 10008"/>
          <p:cNvSpPr txBox="1"/>
          <p:nvPr/>
        </p:nvSpPr>
        <p:spPr>
          <a:xfrm>
            <a:off x="431596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+Rp12.5T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10" name="TextBox 10009"/>
          <p:cNvSpPr txBox="1"/>
          <p:nvPr/>
        </p:nvSpPr>
        <p:spPr>
          <a:xfrm>
            <a:off x="801928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Profitable Brokers</a:t>
            </a:r>
          </a:p>
        </p:txBody>
      </p:sp>
      <p:sp>
        <p:nvSpPr>
          <p:cNvPr id="10011" name="TextBox 10010"/>
          <p:cNvSpPr txBox="1"/>
          <p:nvPr/>
        </p:nvSpPr>
        <p:spPr>
          <a:xfrm>
            <a:off x="801928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84/88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2A4468"/>
            </a:solidFill>
          </a:ln>
        </p:spPr>
        <p:txBody>
          <a:bodyPr/>
          <a:lstStyle/>
          <a:p/>
        </p:txBody>
      </p:sp>
      <p:sp>
        <p:nvSpPr>
          <p:cNvPr id="10012" name="TextBox 10011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4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13" name="TextBox 10012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A8C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44805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4480560" cy="493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178308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Market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1,752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Block (≥5%)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71.4%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19.8%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1.36%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Median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1,600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Overhead Supply?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Realized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+Rp6.1T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Unrealized P&amp;L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+Rp6.4T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Combined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+Rp12.5T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Profitable Brokers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84 / 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5 Concentration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10 Concentration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Trading Days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2530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Data Range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2016-01-04 → 2026-07-15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276088" y="914400"/>
            <a:ext cx="63029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5816" y="950976"/>
            <a:ext cx="6120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6088" y="138074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32588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Median broker cost Rp 1,600 vs market Rp 1,752 — price is above average break-even.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6088" y="208483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2996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3-tier ownership: 71.4% strategic (KSEI direct), 7.4% named &lt;5%, 19.8% broker-tracked float.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2788920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34056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combined P&amp;L: +Rp12.5T — 84 of 88 brokers profitable at current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6088" y="3493008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438144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P&amp;L: +Rp6.1T banked — provides cushion against paper losses.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4197096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142232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15.1% of exchange float — moderately concentrated.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490118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4632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Largest holder: GR at 3.40%, AVCO Rp 1,462, unrealized +Rp924.12B.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560527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55040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Price controllers (last 6m): CC · YP · PD — CC (Rp1,600 σ592, lead r=+0.01, Structural) | YP (Rp1,674 σ993, lead r=-0.11, Structural). Identified via buy-lead correlation with next-day price returns.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Identification  —  CC · YP · PD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35661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Identification Methodology  —  Last 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914400"/>
            <a:ext cx="72173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71416" y="950976"/>
            <a:ext cx="7034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Candidate Comparison  —  sorted by MM Score  ·  Lead ≥ 0.12 or Floor ≥ 55% or Buy% ≥ 75% =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07592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7101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1 — Gross Flow Value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broker gross_vol ÷ max broker gross_vol in same window. The broker that transacts the most total value (buy + sell) is the price-setter on IDX — MMs dominate volume, not just direction. Top traders by value score highest.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12264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75688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2 — Daily Consistency (30%)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295144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buy_presence = buy_days ÷ total trading days in 6m window. Real MMs show up almost every session. ≥ 50% gate to enter top-3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16936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880360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3 — Price Correlation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99815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Max(lead_corr, contemp_corr) t-stat weighted. Confirms the MM is actually moving price, not just providing neutral liquidity. Distributor penalty: zeroed if lead &lt; −0.15 (buying before own price drops = distribution).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721607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685031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★ Net/Gross Ratio — Insider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904487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Net shares held ÷ 6-month gross flow. High ratio (&gt;0.30) = broker accumulates quietly without churning — classic informed-money pattern. Purple-tinted rows in table — NOT selected as MM but flagged as potential insiders. Note: numerator is all-time, denominator is 6m.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26279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489703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XC/XL — Retail Aggregators, NOT Excluded from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709159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XL (Stockbit) and XC (Ajaib) are excluded from MM SCORING only — their gross volume is retail aggregation, not structural price control. However they are NOT excluded from VWAP Alpha or correlation analysis (slide 17). The XC/XL correlation pair should be treated as ambiguous: could be retail co-movement or same beneficial owner routing through two platforms. Cannot be ruled out as insiders without KSEI account-level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6752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4A6E"/>
                </a:solidFill>
                <a:latin typeface="Arial"/>
              </a:rPr>
              <a:t>Selected: CC · YP · PD — top 3 by MM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56869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444444"/>
                </a:solidFill>
                <a:latin typeface="Arial"/>
              </a:rPr>
              <a:t>Green = Selected MM (biggest gross flow + daily presence)   |   Purple tint ★ = Quiet Accumulator (high Net/Gross, insider-like)   |   Amber = P&amp;D Operator   |   Tan = Retail Aggregator (excl.)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361688" y="1216152"/>
          <a:ext cx="6455664" cy="4937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13232"/>
                <a:gridCol w="566928"/>
                <a:gridCol w="749808"/>
                <a:gridCol w="475488"/>
                <a:gridCol w="685800"/>
                <a:gridCol w="685800"/>
                <a:gridCol w="749808"/>
                <a:gridCol w="530352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Lead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Contemp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Buy%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Pos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Net/Gross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-0.019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-0.388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7.24B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29.5M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80.0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+0.011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-0.158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5.21B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196.5M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0.038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66.0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-0.107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-0.005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4.07B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338.8M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0.083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58.1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-0.149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+0.265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2.47B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259.3M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0.105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52.1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+0.037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+0.258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2.32B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1.76B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0.758★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50.7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+0.139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+0.433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21.5M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0.014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47.2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+0.051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+0.362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1.57B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85.3M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45.5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+0.077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2.22B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85.1M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0.038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45.0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-0.181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+0.086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1.30B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19.1M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38.7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-0.352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-0.171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1.20B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85.9M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0.072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38.3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3000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+0.200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+0.059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2.57B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145.3M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0.056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45.9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-0.249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-0.227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8.21B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332.9M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0.019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-0.309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-0.254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2.90B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73.2M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0.015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Deep Dive  —  CC · YP · PD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Price controllers identified via buy-lead correlation with next-day price (last 6m)  ·  Tight zone = month with lowest buy-price σ  ·  Distribution = sell-dominant periods (≥3% net sold)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CC  Pemerintah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196.5M  (0.21%)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303.6M  (0.32%)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+107M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Feb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Rp2,034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110.3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Rp1,924 – Rp2,144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Rp1,936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386.7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Rp1,549 – Rp2,323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-22.4M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-11.38%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Rp1,726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E67E22"/>
                          </a:solidFill>
                          <a:latin typeface="Arial"/>
                        </a:rPr>
                        <a:t>σ23.0  — Moderate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297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YP  Asing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338.8M  (0.36%)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392.9M  (0.42%)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May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+54M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Feb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Rp2,079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109.2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Rp1,970 – Rp2,188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Rp1,879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378.5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Rp1,500 – Rp2,258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-5.3M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-1.55%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Rp1,724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E67E22"/>
                          </a:solidFill>
                          <a:latin typeface="Arial"/>
                        </a:rPr>
                        <a:t>σ22.6  — Moderate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3330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PD  Lokal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259.3M  (0.28%)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327.8M  (0.35%)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Jun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+69M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Feb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Rp2,093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108.2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Rp1,985 – Rp2,201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Rp1,854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415.7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Rp1,438 – Rp2,270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-1.2M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-0.47%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Rp1,721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E67E22"/>
                          </a:solidFill>
                          <a:latin typeface="Arial"/>
                        </a:rPr>
                        <a:t>σ20.3  — Moderate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Pre-Move Accumulation — Insider Confidence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Who loaded up 1–3 weeks before price surged ≥15%  ·  last 12 months  ·  min 5M shares  ·  min 5 active days  ·  Hit% = surges front-ran ÷ total surges detected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71323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502920"/>
                <a:gridCol w="1234440"/>
                <a:gridCol w="2331720"/>
                <a:gridCol w="1508760"/>
                <a:gridCol w="9601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Week End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Surge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VWAP Rp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Pre-Buyers (21d)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Day 1 Entry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2026-07-07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1,333→1,560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YU(52.5M) · XL*(42.2M) · OD(20.5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CC(15.2M) · TP(10.8M)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2026-06-02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1,546→2,010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OD(68.0M) · XL*(56.0M) · CC(52.7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AK(57.8M) · CC(24.3M)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2026-05-07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1,961→2,269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HP(46.2M) · AZ(42.9M) · PD(39.3M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AK(6.9M) · AZ(3.9M)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2026-04-14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1,399→2,369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SS(17.3M) · HP(11.2M) · XA(10.9M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AZ(9.2M) · SS(7.2M)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+661%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2025-09-24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2,426→3,641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BB(52.7M) · TP(40.1M) · LG(32.2M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CC(34.4M) · PD(23.0M)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3456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2025-07-30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2,157→2,650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ZP(58.6M) · BB(47.0M) · HP(43.3M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RF(11.9M) · TP(4.6M)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062472"/>
            <a:ext cx="7132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77777"/>
                </a:solidFill>
                <a:latin typeface="Arial"/>
              </a:rPr>
              <a:t>* retail aggregator (Ajaib/Stockbit) — volume is real but not coordinated  ·  Pos% uses first signal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216152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TOP 3 SIGNAL BROKERS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7848" y="1435608"/>
          <a:ext cx="251460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29184"/>
                <a:gridCol w="402336"/>
                <a:gridCol w="621792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BB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125M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+110%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124M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101M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27848" y="2368296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ACCUMULATION RANKING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27848" y="2606039"/>
          <a:ext cx="3154680" cy="155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92608"/>
                <a:gridCol w="384048"/>
                <a:gridCol w="475488"/>
                <a:gridCol w="475488"/>
                <a:gridCol w="93268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Retail Flow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BB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125M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+110%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124M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101M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99M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+11%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27848" y="4297679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20"/>
                </a:solidFill>
                <a:latin typeface="Arial"/>
              </a:rPr>
              <a:t>POST-SURGE DISTRIBUTORS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7848" y="4535423"/>
          <a:ext cx="213055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530352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Surge End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Net Sold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2026-07-07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-38.2M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-28.4M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2026-06-02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-75.0M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-43.0M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2026-05-07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-49.1M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-44.3M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640080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Shareholder Breakdown  —  3-Tier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96328" y="914400"/>
            <a:ext cx="43827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6056" y="950976"/>
            <a:ext cx="4199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Named Shareholders  &gt;1%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621792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216152"/>
          <a:ext cx="428853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658368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Holder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17043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Prajogo Pangestu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66.91B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71.41%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17043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Bangkok Bank Public Company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4.68B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4.99%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17043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Anbo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1.23B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1.31%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17043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Standard Chartered Bank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1.04B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1.11%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Holdings  — 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Exchange Float  ·  Top 10 Brokers  ·  19.8% of total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419856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280160"/>
                <a:gridCol w="1005840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3.18B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3.40%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2.41B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2.57%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1.76B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1.87%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1.73B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1.84%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1.27B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1.35%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1.25B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1.33%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882.7M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0.94%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ML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616.5M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0.66%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BK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591.5M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0.63%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504.3M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0.54%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Cost Basis  —  Top 20 Brokers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AVCO  ·  Price-correlated lot matching (sell at P → consume lot nearest to P)  ·  88 brokers total  ·  Current price Rp 1,752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8961120" cy="480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097280"/>
                <a:gridCol w="658368"/>
                <a:gridCol w="1170432"/>
                <a:gridCol w="1417320"/>
                <a:gridCol w="1417320"/>
                <a:gridCol w="14173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Combined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3.18B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3.40%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Rp1,462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-Rp66.55B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+Rp924.12B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+Rp857.57B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2.41B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2.57%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Rp1,394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+Rp101.33B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+Rp863.64B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+Rp964.97B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1.76B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1.87%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Rp1,960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+Rp91.65B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-Rp365.53B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-Rp273.88B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1.73B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1.84%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Rp918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+Rp140.63B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+Rp1.4T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+Rp1.6T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KZ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1.27B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1.35%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Rp978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+Rp41.39B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+Rp980.49B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+Rp1.0T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1.25B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1.33%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Rp946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+Rp12.37B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+Rp1.0T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+Rp1.0T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882.7M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0.94%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Rp1,120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+Rp267.67B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+Rp558.47B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+Rp826.14B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ML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616.5M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Rp732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+Rp4.42B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+Rp629.31B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+Rp633.72B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BK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591.5M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Rp1,957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+Rp221.52B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-Rp120.95B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+Rp100.57B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504.3M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Rp1,213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+Rp128.04B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+Rp271.75B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+Rp399.79B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352.1M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Rp2,003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+Rp219.45B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-Rp88.33B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+Rp131.12B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338.8M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Rp1,674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+Rp154.01B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+Rp26.49B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+Rp180.50B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332.9M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Rp1,620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+Rp35.10B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+Rp43.96B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+Rp79.06B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BB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295.6M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0.32%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Rp2,762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+Rp29.08B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-Rp298.47B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-Rp269.39B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273.8M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Rp1,895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+Rp73.66B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-Rp39.15B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+Rp34.51B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259.3M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Rp1,725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+Rp156.23B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+Rp7.18B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+Rp163.41B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227.9M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Rp932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+Rp187.01B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+Rp188.15B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196.5M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Rp1,600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+Rp745.53B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+Rp29.99B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+Rp775.52B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185.7M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Rp2,244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+Rp32.27B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-Rp91.27B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-Rp59.01B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145.3M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0.15%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Rp1,745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+Rp96.86B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+Rp97.98B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Combined P&amp;L  —  Realized + Unrealized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Realized: +Rp6.1T  ·  Unrealized: +Rp6.4T  ·  Combined: +Rp12.5T  ·  84/88 profitable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Distribution  —  Where Did the Top 10 Buy?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Top 10 by shares  ·  Bar = buying range (AVCO ± 1σ)  ·  Tick = average cost (AVCO)  ·  Blue = in profit (AVCO below Rp 1,752)  ·  Red = underwater  ·  % = unrealized profit or loss vs current price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SD / Conviction Analysis  —  Accumulation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≤ 15 = disciplined zone buyers  ·  σ &gt; 25 = price-chasers  ·  Tightest = within last 6 months (bullish)  ·  Rel σ (σ÷market σ) on Bell Curve slide — &lt;1.0 = tighter than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16152"/>
            <a:ext cx="3564026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TIGHT  σ ≤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508760"/>
          <a:ext cx="3566160" cy="4663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Rp1,654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1650–1658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91–100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Rp824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809–838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Rp1,786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May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1786–1787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881481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Rp883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515K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880–885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13834" y="1216152"/>
            <a:ext cx="3564026" cy="25603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3562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MODERATE  σ 16-25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13834" y="1508760"/>
          <a:ext cx="3566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440740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Rp974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23.1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951–997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15020" y="1216152"/>
            <a:ext cx="3564026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4748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WIDE / EXTREME  σ&gt;25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15020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Rp1,462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240.1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3.18B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1222–1702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Rp1,394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1102.9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2.41B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Mar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292–2497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Rp1,960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953.9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1.76B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1007–2914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Rp918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450.1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1.73B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468–1368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Rp978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341.5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1.27B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636–1319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Rp946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302.1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1.25B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643–1248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DP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Rp1,120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272.2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882.7M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847–1392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Rp732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116.1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616.5M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616–848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Rp1,957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749.9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591.5M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1207–2707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Rp1,213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374.4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504.3M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Feb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839–1588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…+65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Bell Curves  —  Accumulation Distribution by Conviction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Narrow peak = disciplined buyer (high conviction)  ·  Flat curve = no price discipline  ·  3 panels — one per σ tier  ·  Each panel has its own zoomed x-axis  ·  Red dashed = current price  ·  Curve normalized to peak = 1.0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B7A3E"/>
                </a:solidFill>
                <a:latin typeface="Arial"/>
              </a:rPr>
              <a:t>TS σ4  ·  SM σ4  ·  LH σ15  ·  CD σ0  ·  AH 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114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5FA6"/>
                </a:solidFill>
                <a:latin typeface="Arial"/>
              </a:rPr>
              <a:t>SF σ23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580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0392B"/>
                </a:solidFill>
                <a:latin typeface="Arial"/>
              </a:rPr>
              <a:t>GR σ240  ·  HP σ1103  ·  ZP σ954  ·  DX σ450  ·  KZ σ341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078224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Evolution — Top 5 by Shares  ·  σ = buy-price std deviation (lower = more focused zone buying)  ·  Trend = σ 30d vs σ 180d (Tightening = buying more focused recently)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4370832"/>
          <a:ext cx="10058400" cy="182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005840"/>
                <a:gridCol w="1005840"/>
                <a:gridCol w="1005840"/>
                <a:gridCol w="1005840"/>
                <a:gridCol w="914400"/>
                <a:gridCol w="228600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All-time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90d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 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Trend (30d vs 180d)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3.18B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240.1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139.4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277.6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339.3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C0392B"/>
                          </a:solidFill>
                          <a:latin typeface="Arial"/>
                        </a:rPr>
                        <a:t>1.21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2.41B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1102.9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107.4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257.3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306.6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1.76B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953.9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116.4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257.3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321.7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1.01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1.73B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450.1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67.8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241.2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355.8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16B3A"/>
                          </a:solidFill>
                          <a:latin typeface="Arial"/>
                        </a:rPr>
                        <a:t>0.59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1.27B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341.5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23.1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252.1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312.3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16B3A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Regime Map  —  30d vs 180d Net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X = 30d net flow %  ·  Y = 180d net flow %  ·  Bubble ∝ ownership %  ·  Green=Accumulating  ·  Orange=Regime Change  ·  Red=Distributing  ·  Blue=Flipped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291840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+3.6%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+5.6%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+1.1%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+2.5%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+3.4%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ML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BK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-3.6%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Investment Thesis  —  BRPT at Rp 1,752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53917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Bullish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7287" y="914400"/>
            <a:ext cx="5391759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7015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Tactical Caution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62456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median Rp 1,600 — price is ABOVE median broker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75688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Net unrealized gain +Rp6.4T — broker float predominantly profitable.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88920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734056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armor: +Rp6.1T banked profit provides buffer.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502152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447288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15.1% of total shares — concentrated, large incremental moves 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215384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160520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84/88 brokers profitable — majority positioned to hold.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1362456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7015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Named &lt;5% holders (7.4%) = direct KSEI holders (creditor conversions, IPO allotments, or pre-IPO investors — entry price varies) — exit adds unexpected supply.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Reconciliation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 Count Reconciliation  —  3-Tier Ownership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10972800" cy="256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868680"/>
                <a:gridCol w="608076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≥5% (founders/pre-IPO)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66.91B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71.41%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KSEI direct — never in broker flow, zero overlap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(direct KSEI — creditor/allotment/pre-IPO)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6.95B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7.42%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May overlap broker float — entry cost varies by holder type (shown gross)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18.57B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19.81%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Raw broker flow data — may overlap with 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 (KSEI, unidentified)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1.28B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1.36%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Not in named list or broker data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TOTAL SHARES OUTSTANDING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93.70B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Fully reconciled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3913632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950208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4261103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215383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AVCO: price-correlated lot matching — on SELL at price P, consume the lot with min |buy_price − P|. Correct for aggregate broker data; raw FIFO and equal-weight AVCO both produce incorrect basis.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828031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782312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Gross flows: Stockbit Net-OFF — separate BUY/SELL rows per broker per day. Data: 2016-01-04 → 2026-07-15 (2530 days).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5394959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Corporate actions: applied in-queue on recording date. Forward splits/bonus: lots ×multiplier, prices ×(1/multiplier). Reverse splits: lots ÷multiplier, prices ×multiplier. No post-hoc 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961888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916168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Realized P&amp;L: realized_pnl_rp from holdings_final.csv (LotQueue). NOT avco_realized — can differ by billions on high-volume brokers.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Intelligence — VWAP Alpha &amp; Ownership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VWAP alpha &lt; 0 = broker buys cheaper than market average  ·  r &gt; 0.50 shown  ·  r ≥ 0.70 + both non-MM = amber (strong same-owner signal)  ·  Negative r = counterparty/transfer behavior, not co-ownership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BUY VWAP ALPHA  vs market  (all history)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490472"/>
          <a:ext cx="4480560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731520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Mean α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Days&lt;Mkt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t-stat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Buy days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II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-1.120%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ID PPE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-0.989%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SM PPE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-0.960%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-2.6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PI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-0.775%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BF PPE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-0.677%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73%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HP ACC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-0.397%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SS CHN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-0.296%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MU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-0.248%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KI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-0.213%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-4.6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GW MM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-0.169%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RO MM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-0.164%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IF MM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-0.151%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PF MM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-0.150%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YJ MM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-0.144%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SQ PPE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-0.143%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1143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96328" y="1216152"/>
            <a:ext cx="4382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CORRELATED BROKER PAIRS  (same owner signal)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490472"/>
          <a:ext cx="338328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685800"/>
                <a:gridCol w="77724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Overlap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XC/XL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+0.625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726d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STR|ACC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BK/RX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-0.549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622d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STR|STR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AF/DP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-0.629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89d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DIS|ACC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AI/GR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-0.975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665d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DIS|ACC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96328" y="6062472"/>
            <a:ext cx="4382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rial"/>
              </a:rPr>
              <a:t>★ AMBER = r ≥ 0.70 + both non-MM roles = likely single owner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