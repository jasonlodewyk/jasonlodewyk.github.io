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10058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PTRO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2395728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DDF2"/>
                </a:solidFill>
                <a:latin typeface="Arial"/>
              </a:rPr>
              <a:t>PT Petrosea Tbk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926080"/>
            <a:ext cx="8686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A9ABC"/>
                </a:solidFill>
                <a:latin typeface="Arial"/>
              </a:rPr>
              <a:t>IDX Broker Flow Intelligence  ·  AVCO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6975" y="10241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AA8C4"/>
                </a:solidFill>
                <a:latin typeface="Arial"/>
              </a:rPr>
              <a:t>16 Jul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6975" y="1371600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D4B83C"/>
                </a:solidFill>
                <a:latin typeface="Arial"/>
              </a:rPr>
              <a:t>Rp 4,125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6975" y="1847088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A9ABC"/>
                </a:solidFill>
                <a:latin typeface="Arial"/>
              </a:rPr>
              <a:t>Current Price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3401568"/>
            <a:ext cx="10966399" cy="0"/>
          </a:xfrm>
          <a:prstGeom prst="line">
            <a:avLst/>
          </a:prstGeom>
          <a:noFill/>
          <a:ln w="9525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3584448"/>
            <a:ext cx="3493008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363931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Strategic Block (≥5%)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612648" y="385876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69.8%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4315968" y="3584448"/>
            <a:ext cx="3493007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2" name="TextBox 10001"/>
          <p:cNvSpPr txBox="1"/>
          <p:nvPr/>
        </p:nvSpPr>
        <p:spPr>
          <a:xfrm>
            <a:off x="4315968" y="363931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Broker-Tracked Float</a:t>
            </a:r>
          </a:p>
        </p:txBody>
      </p:sp>
      <p:sp>
        <p:nvSpPr>
          <p:cNvPr id="10003" name="TextBox 10002"/>
          <p:cNvSpPr txBox="1"/>
          <p:nvPr/>
        </p:nvSpPr>
        <p:spPr>
          <a:xfrm>
            <a:off x="4315968" y="385876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100.7%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8019288" y="3584448"/>
            <a:ext cx="3493008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4" name="TextBox 10003"/>
          <p:cNvSpPr txBox="1"/>
          <p:nvPr/>
        </p:nvSpPr>
        <p:spPr>
          <a:xfrm>
            <a:off x="8019288" y="363931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Named &lt;5% Holders</a:t>
            </a:r>
          </a:p>
        </p:txBody>
      </p:sp>
      <p:sp>
        <p:nvSpPr>
          <p:cNvPr id="10005" name="TextBox 10004"/>
          <p:cNvSpPr txBox="1"/>
          <p:nvPr/>
        </p:nvSpPr>
        <p:spPr>
          <a:xfrm>
            <a:off x="8019288" y="3858768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7.3%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4517136"/>
            <a:ext cx="3493008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6" name="TextBox 10005"/>
          <p:cNvSpPr txBox="1"/>
          <p:nvPr/>
        </p:nvSpPr>
        <p:spPr>
          <a:xfrm>
            <a:off x="612648" y="4571999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AVCO Realized P&amp;L</a:t>
            </a:r>
          </a:p>
        </p:txBody>
      </p:sp>
      <p:sp>
        <p:nvSpPr>
          <p:cNvPr id="10007" name="TextBox 10006"/>
          <p:cNvSpPr txBox="1"/>
          <p:nvPr/>
        </p:nvSpPr>
        <p:spPr>
          <a:xfrm>
            <a:off x="612648" y="4791455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+Rp7.3T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4315968" y="4517136"/>
            <a:ext cx="3493007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08" name="TextBox 10007"/>
          <p:cNvSpPr txBox="1"/>
          <p:nvPr/>
        </p:nvSpPr>
        <p:spPr>
          <a:xfrm>
            <a:off x="4315968" y="4571999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AVCO Combined P&amp;L</a:t>
            </a:r>
          </a:p>
        </p:txBody>
      </p:sp>
      <p:sp>
        <p:nvSpPr>
          <p:cNvPr id="10009" name="TextBox 10008"/>
          <p:cNvSpPr txBox="1"/>
          <p:nvPr/>
        </p:nvSpPr>
        <p:spPr>
          <a:xfrm>
            <a:off x="4315968" y="4791455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+Rp19.0T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8019288" y="4517136"/>
            <a:ext cx="3493008" cy="0"/>
          </a:xfrm>
          <a:prstGeom prst="line">
            <a:avLst/>
          </a:prstGeom>
          <a:noFill/>
          <a:ln w="5080">
            <a:solidFill>
              <a:srgbClr val="1A3A70"/>
            </a:solidFill>
          </a:ln>
        </p:spPr>
        <p:txBody>
          <a:bodyPr/>
          <a:lstStyle/>
          <a:p/>
        </p:txBody>
      </p:sp>
      <p:sp>
        <p:nvSpPr>
          <p:cNvPr id="10010" name="TextBox 10009"/>
          <p:cNvSpPr txBox="1"/>
          <p:nvPr/>
        </p:nvSpPr>
        <p:spPr>
          <a:xfrm>
            <a:off x="8019288" y="4571999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8C4"/>
                </a:solidFill>
                <a:latin typeface="Arial"/>
              </a:rPr>
              <a:t>Profitable Brokers</a:t>
            </a:r>
          </a:p>
        </p:txBody>
      </p:sp>
      <p:sp>
        <p:nvSpPr>
          <p:cNvPr id="10011" name="TextBox 10010"/>
          <p:cNvSpPr txBox="1"/>
          <p:nvPr/>
        </p:nvSpPr>
        <p:spPr>
          <a:xfrm>
            <a:off x="8019288" y="4791455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80/96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2A4468"/>
            </a:solidFill>
          </a:ln>
        </p:spPr>
        <p:txBody>
          <a:bodyPr/>
          <a:lstStyle/>
          <a:p/>
        </p:txBody>
      </p:sp>
      <p:sp>
        <p:nvSpPr>
          <p:cNvPr id="10012" name="TextBox 10011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AA8C4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13" name="TextBox 10012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AA8C4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448056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Key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4480560" cy="4937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178308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Market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Rp 4,125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Strategic Block (≥5%)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69.8%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Named &lt;5% Holders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Broker-Tracked Float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100.7%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Untracked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AVCO Median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Rp 4,054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Overhead Supply?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AVCO Realized P&amp;L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+Rp7.3T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AVCO Unrealized P&amp;L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+Rp11.8T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AVCO Combined P&amp;L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+Rp19.0T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Profitable Brokers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80 / 96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Top 5 Concentration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76.1%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Top 10 Concentration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85.6%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Trading Days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2538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2115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Data Range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2016-01-04 → 2026-07-15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276088" y="914400"/>
            <a:ext cx="630295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85816" y="950976"/>
            <a:ext cx="61200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Key Findings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276088" y="1380744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1325880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Median broker cost Rp 4,054 vs market Rp 4,125 — price is above average break-even.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76088" y="2084832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2029968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3-tier ownership: 69.8% strategic (KSEI direct), 7.3% named &lt;5%, 100.7% broker-tracked float.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76088" y="2788920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734056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AVCO combined P&amp;L: +Rp19.0T — 80 of 96 brokers profitable at current price.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76088" y="3493008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3438144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Realized P&amp;L: +Rp7.3T banked — provides cushion against paper losses.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76088" y="4197096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0680" y="4142232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Top 10 brokers hold 85.6% of exchange float — highly concentrated.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76088" y="4901184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40680" y="4846320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Largest holder: CC at 60.97%, AVCO Rp 2,016, unrealized +Rp13.0T.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6088" y="5605272"/>
            <a:ext cx="36576" cy="36576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5550408"/>
            <a:ext cx="60743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Price controllers (last 6m): AK · YP · PD — AK (Rp3,937 σ161, lead r=+0.17, Structural) | YP (Rp4,555 σ3392, lead r=-0.28, Structural). Identified via buy-lead correlation with next-day price returns.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Market Maker Identification  —  AK · YP · PD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356616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3383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Identification Methodology  —  Last 6 Months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61688" y="914400"/>
            <a:ext cx="721735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71416" y="950976"/>
            <a:ext cx="70344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Candidate Comparison  —  sorted by MM Score  ·  Lead ≥ 0.12 or Floor ≥ 55% or Buy% ≥ 75% = threshold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307592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271016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Signal 1 — Gross Flow Value (50%)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1490472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broker gross_vol ÷ max broker gross_vol in same window. The broker that transacts the most total value (buy + sell) is the price-setter on IDX — MMs dominate volume, not just direction. Top traders by value score highest.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112264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2075688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Signal 2 — Daily Consistency (30%)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295144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buy_presence = buy_days ÷ total trading days in 6m window. Real MMs show up almost every session. ≥ 50% gate to enter top-3 selection.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2916936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2880360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Signal 3 — Price Correlation (20%)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099815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Max(lead_corr, contemp_corr) t-stat weighted. Confirms the MM is actually moving price, not just providing neutral liquidity. Distributor penalty: zeroed if lead &lt; −0.15 (buying before own price drops = distribution).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3721607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3685031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★ Net/Gross Ratio — Insider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3904487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Net shares held ÷ 6-month gross flow. High ratio (&gt;0.30) = broker accumulates quietly without churning — classic informed-money pattern. Purple-tinted rows in table — NOT selected as MM but flagged as potential insiders. Note: numerator is all-time, denominator is 6m.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4526279"/>
            <a:ext cx="36576" cy="274320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4489703"/>
            <a:ext cx="34198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6212E"/>
                </a:solidFill>
                <a:latin typeface="Arial"/>
              </a:rPr>
              <a:t>XC/XL — Retail Aggregators, NOT Excluded from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4709159"/>
            <a:ext cx="3419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  <a:latin typeface="Arial"/>
              </a:rPr>
              <a:t>XL (Stockbit) and XC (Ajaib) are excluded from MM SCORING only — their gross volume is retail aggregation, not structural price control. However they are NOT excluded from VWAP Alpha or correlation analysis (slide 17). The XC/XL correlation pair should be treated as ambiguous: could be retail co-movement or same beneficial owner routing through two platforms. Cannot be ruled out as insiders without KSEI account-level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5367527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14A6E"/>
                </a:solidFill>
                <a:latin typeface="Arial"/>
              </a:rPr>
              <a:t>Selected: AK · YP · PD — top 3 by MM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5568695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444444"/>
                </a:solidFill>
                <a:latin typeface="Arial"/>
              </a:rPr>
              <a:t>Green = Selected MM (biggest gross flow + daily presence)   |   Purple tint ★ = Quiet Accumulator (high Net/Gross, insider-like)   |   Amber = P&amp;D Operator   |   Tan = Retail Aggregator (excl.)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361688" y="1216152"/>
          <a:ext cx="6455664" cy="4937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713232"/>
                <a:gridCol w="566928"/>
                <a:gridCol w="749808"/>
                <a:gridCol w="475488"/>
                <a:gridCol w="685800"/>
                <a:gridCol w="685800"/>
                <a:gridCol w="749808"/>
                <a:gridCol w="530352"/>
                <a:gridCol w="65836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Lead 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Contemp 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Buy%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Gross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Net Pos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Net/Gross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04018"/>
                          </a:solidFill>
                          <a:latin typeface="Arial"/>
                        </a:rPr>
                        <a:t>AK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+0.170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-0.047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2.12B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9.9M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0.005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81.4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Selected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-0.009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-0.531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1.80B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6.15B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3.418★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72.3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04018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-0.282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-0.090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1.36B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118.4M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0.087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61.9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Selected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04018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+0.018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+0.371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1.03B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229.9M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0.223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61.6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04018"/>
                          </a:solidFill>
                          <a:latin typeface="Arial"/>
                        </a:rPr>
                        <a:t>Selected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CP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-0.010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+0.324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99%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820.5M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54.5M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0.066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55.5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+0.106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+0.508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424.7M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102.2M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0.241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48.8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YU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+0.027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+0.307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93%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508.7M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6.6M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0.013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46.0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AZ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+0.036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+0.249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94%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512.2M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27.4M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0.054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44.5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SQ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-0.287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-0.333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99%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507.1M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61.0M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0.120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41.7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</a:rPr>
                        <a:t>ZP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-0.025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+0.027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517.9M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520.5M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1.005★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41.1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EDE8F8"/>
                    </a:solidFill>
                    <a:lnL w="6350">
                      <a:solidFill>
                        <a:srgbClr val="D9D4E4"/>
                      </a:solidFill>
                    </a:lnL>
                    <a:lnR w="6350">
                      <a:solidFill>
                        <a:srgbClr val="D9D4E4"/>
                      </a:solidFill>
                    </a:lnR>
                    <a:lnT w="6350">
                      <a:solidFill>
                        <a:srgbClr val="D9D4E4"/>
                      </a:solidFill>
                    </a:lnT>
                    <a:lnB w="6350">
                      <a:solidFill>
                        <a:srgbClr val="D9D4E4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603000"/>
                          </a:solidFill>
                          <a:latin typeface="Arial"/>
                        </a:rPr>
                        <a:t>MG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-0.178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-0.055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92%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838.4M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69.8M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0.083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47.4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3000"/>
                          </a:solidFill>
                          <a:latin typeface="Arial"/>
                        </a:rPr>
                        <a:t>Operator</a:t>
                      </a:r>
                    </a:p>
                  </a:txBody>
                  <a:tcPr>
                    <a:solidFill>
                      <a:srgbClr val="FFEACC"/>
                    </a:solidFill>
                    <a:lnL w="6350">
                      <a:solidFill>
                        <a:srgbClr val="EBD6B8"/>
                      </a:solidFill>
                    </a:lnL>
                    <a:lnR w="6350">
                      <a:solidFill>
                        <a:srgbClr val="EBD6B8"/>
                      </a:solidFill>
                    </a:lnR>
                    <a:lnT w="6350">
                      <a:solidFill>
                        <a:srgbClr val="EBD6B8"/>
                      </a:solidFill>
                    </a:lnT>
                    <a:lnB w="6350">
                      <a:solidFill>
                        <a:srgbClr val="EBD6B8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604000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-0.321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-0.185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3.58B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222.7M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0.051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Excluded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</a:tr>
              <a:tr h="3601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604000"/>
                          </a:solidFill>
                          <a:latin typeface="Arial"/>
                        </a:rPr>
                        <a:t>XC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-0.477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-0.091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1.01B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15.1M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0.005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604000"/>
                          </a:solidFill>
                          <a:latin typeface="Arial"/>
                        </a:rPr>
                        <a:t>Excluded</a:t>
                      </a:r>
                    </a:p>
                  </a:txBody>
                  <a:tcPr>
                    <a:solidFill>
                      <a:srgbClr val="FFF0D0"/>
                    </a:solidFill>
                    <a:lnL w="6350">
                      <a:solidFill>
                        <a:srgbClr val="EBDCBC"/>
                      </a:solidFill>
                    </a:lnL>
                    <a:lnR w="6350">
                      <a:solidFill>
                        <a:srgbClr val="EBDCBC"/>
                      </a:solidFill>
                    </a:lnR>
                    <a:lnT w="6350">
                      <a:solidFill>
                        <a:srgbClr val="EBDCBC"/>
                      </a:solidFill>
                    </a:lnT>
                    <a:lnB w="6350">
                      <a:solidFill>
                        <a:srgbClr val="EBDCB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Market Maker Deep Dive  —  AK · YP · PD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Price controllers identified via buy-lead correlation with next-day price (last 6m)  ·  Tight zone = month with lowest buy-price σ  ·  Distribution = sell-dominant periods (≥3% net sold)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354604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557"/>
                <a:gridCol w="2056485"/>
              </a:tblGrid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AK  Asing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9.9M  (0.10%)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PEAK HOLDINGS (200d)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Shares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93.8M  (0.93%)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Date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vs Current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+84M shares vs now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ACCUMULATION ZONE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Tightest Month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6212E"/>
                          </a:solidFill>
                          <a:latin typeface="Arial"/>
                        </a:rPr>
                        <a:t>Jul '26 (recent)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Buy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Rp3,942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Tightest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87.6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Rp3,854 – Rp4,030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DISTRIBUTION ZONE</a:t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Sell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Rp5,675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Distribution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1463.9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Rp4,211 – Rp7,139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LAST 5d  ACTION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16B3A"/>
                          </a:solidFill>
                          <a:latin typeface="Arial"/>
                        </a:rPr>
                        <a:t>NET BUYING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Net Volume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16B3A"/>
                          </a:solidFill>
                          <a:latin typeface="Arial"/>
                        </a:rPr>
                        <a:t>+0.9M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% of Holdings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16B3A"/>
                          </a:solidFill>
                          <a:latin typeface="Arial"/>
                        </a:rPr>
                        <a:t>+9.13%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Price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Rp4,056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Conviction 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σ51.0  — Wide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322978" y="1216152"/>
          <a:ext cx="354604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557"/>
                <a:gridCol w="2056485"/>
              </a:tblGrid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YP  Asing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118.4M  (1.17%)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PEAK HOLDINGS (200d)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Shares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119.4M  (1.18%)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Date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May 2026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vs Current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+1M shares vs now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ACCUMULATION ZONE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Tightest Month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6212E"/>
                          </a:solidFill>
                          <a:latin typeface="Arial"/>
                        </a:rPr>
                        <a:t>Jul '26 (recent)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Buy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Rp3,957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Tightest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89.1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Rp3,868 – Rp4,046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DISTRIBUTION ZONE</a:t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Sell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Rp5,988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Distribution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2201.9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Rp3,786 – Rp8,190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LAST 5d  ACTION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0392B"/>
                          </a:solidFill>
                          <a:latin typeface="Arial"/>
                        </a:rPr>
                        <a:t>NET SELLING</a:t>
                      </a:r>
                    </a:p>
                  </a:txBody>
                  <a:tcPr>
                    <a:solidFill>
                      <a:srgbClr val="FAD7D7"/>
                    </a:solidFill>
                    <a:lnL w="6350">
                      <a:solidFill>
                        <a:srgbClr val="E6C3C3"/>
                      </a:solidFill>
                    </a:lnL>
                    <a:lnR w="6350">
                      <a:solidFill>
                        <a:srgbClr val="E6C3C3"/>
                      </a:solidFill>
                    </a:lnR>
                    <a:lnT w="6350">
                      <a:solidFill>
                        <a:srgbClr val="E6C3C3"/>
                      </a:solidFill>
                    </a:lnT>
                    <a:lnB w="6350">
                      <a:solidFill>
                        <a:srgbClr val="E6C3C3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Net Volume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-0.4M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% of Holdings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C0392B"/>
                          </a:solidFill>
                          <a:latin typeface="Arial"/>
                        </a:rPr>
                        <a:t>-0.30%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Price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Rp4,036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Conviction 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σ51.7  — Wide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33308" y="1216152"/>
          <a:ext cx="354604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9557"/>
                <a:gridCol w="2056485"/>
              </a:tblGrid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PD  Lokal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229.9M  (2.28%)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PEAK HOLDINGS (200d)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Shares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277.3M  (2.75%)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Peak Date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Jan 2026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vs Current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+47M shares vs now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ACCUMULATION ZONE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Tightest Month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16212E"/>
                          </a:solidFill>
                          <a:latin typeface="Arial"/>
                        </a:rPr>
                        <a:t>Jul '26 (recent)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Buy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Rp3,967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Tightest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6212E"/>
                          </a:solidFill>
                          <a:latin typeface="Arial"/>
                        </a:rPr>
                        <a:t>90.1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Rp3,877 – Rp4,057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DISTRIBUTION ZONE</a:t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7B1414"/>
                    </a:solidFill>
                    <a:lnL w="6350">
                      <a:solidFill>
                        <a:srgbClr val="670000"/>
                      </a:solidFill>
                    </a:lnL>
                    <a:lnR w="6350">
                      <a:solidFill>
                        <a:srgbClr val="670000"/>
                      </a:solidFill>
                    </a:lnR>
                    <a:lnT w="6350">
                      <a:solidFill>
                        <a:srgbClr val="670000"/>
                      </a:solidFill>
                    </a:lnT>
                    <a:lnB w="6350">
                      <a:solidFill>
                        <a:srgbClr val="670000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Sell Price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Rp6,438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σ at Distribution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2848.8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Price Range ±1σ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444444"/>
                          </a:solidFill>
                          <a:latin typeface="Arial"/>
                        </a:rPr>
                        <a:t>Rp3,589 – Rp9,287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LAST 5d  ACTION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Direction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16B3A"/>
                          </a:solidFill>
                          <a:latin typeface="Arial"/>
                        </a:rPr>
                        <a:t>NET BUYING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Net Volume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216B3A"/>
                          </a:solidFill>
                          <a:latin typeface="Arial"/>
                        </a:rPr>
                        <a:t>+2.6M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% of Holdings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216B3A"/>
                          </a:solidFill>
                          <a:latin typeface="Arial"/>
                        </a:rPr>
                        <a:t>+1.12%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Avg Price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Rp4,046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700" b="0">
                          <a:solidFill>
                            <a:srgbClr val="444444"/>
                          </a:solidFill>
                          <a:latin typeface="Arial"/>
                        </a:rPr>
                        <a:t>Conviction 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C0392B"/>
                          </a:solidFill>
                          <a:latin typeface="Arial"/>
                        </a:rPr>
                        <a:t>σ49.3  — Wide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Pre-Move Accumulation — Insider Confidence Signal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Who loaded up 1–3 weeks before price surged ≥15%  ·  last 12 months  ·  min 5M shares  ·  min 5 active days  ·  Hit% = surges front-ran ÷ total surges detected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71323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502920"/>
                <a:gridCol w="1234440"/>
                <a:gridCol w="2331720"/>
                <a:gridCol w="1508760"/>
                <a:gridCol w="9601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Week End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Surge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VWAP Rp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Pre-Buyers (21d)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Day 1 Entry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Pos%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55092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2026-06-02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+39%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3,643→5,059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CC(21.2M) · XL*(18.6M) · SQ(8.6M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CC(6.4M) · BK(3.3M)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55092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2026-04-14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+45%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4,536→6,569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OD(44.4M) · ZP(12.4M) · SQ(8.3M)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AZ(2.2M) · YP(1.5M)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+78%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55092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2026-02-18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+32%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5,863→7,741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XL*(65.5M) · NI(55.9M) · HP(29.3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MG(3.5M) · CC(2.8M)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+22%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55092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2025-12-24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+30%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7,860→10,206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HP(37.2M) · BK(16.8M) · TP(12.8M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HP(11.4M) · TP(3.1M)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55092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2025-11-10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+24%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7,154→8,843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XL*(24.4M) · HP(23.7M) · YP(22.3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AK(8.1M) · YU(3.1M)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55092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2025-09-29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+28%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5,470→7,022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HP(35.4M) · MG(27.9M) · CC(23.2M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XA(5.4M) · AK(5.3M)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55092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2025-09-24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+48%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4,408→6,502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HP(18.3M) · BB(17.7M) · MG(8.8M)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HP(11.4M) · CC(11.4M)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55092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2025-08-20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+27%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3,223→4,105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XA(14.0M) · YP(9.5M) · NI(8.7M)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AK(4.6M) · MG(3.7M)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+54%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6062472"/>
            <a:ext cx="7132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77777"/>
                </a:solidFill>
                <a:latin typeface="Arial"/>
              </a:rPr>
              <a:t>* retail aggregator (Ajaib/Stockbit) — volume is real but not coordinated  ·  Pos% uses first signal broker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7848" y="1216152"/>
            <a:ext cx="3651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212E"/>
                </a:solidFill>
                <a:latin typeface="Arial"/>
              </a:rPr>
              <a:t>TOP 3 SIGNAL BROKERS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927848" y="1435608"/>
          <a:ext cx="251460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329184"/>
                <a:gridCol w="402336"/>
                <a:gridCol w="621792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Hit%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Pre Vol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Avg Pos%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195072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HP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144M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+152%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  <a:tr h="195072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71M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+9%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  <a:tr h="195072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OD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60M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+42%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27848" y="2368296"/>
            <a:ext cx="3651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6212E"/>
                </a:solidFill>
                <a:latin typeface="Arial"/>
              </a:rPr>
              <a:t>ACCUMULATION RANKING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27848" y="2606039"/>
          <a:ext cx="3154680" cy="15544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292608"/>
                <a:gridCol w="384048"/>
                <a:gridCol w="475488"/>
                <a:gridCol w="475488"/>
                <a:gridCol w="93268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Hit%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Pre Vol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Avg Pos%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Class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5968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HP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144M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+152%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INSIDER-LIKE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  <a:tr h="25968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108M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+67%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Retail Flow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5968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71M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+9%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INSIDER-LIKE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  <a:tr h="25968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OD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60M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+42%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INSIDER-LIKE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  <a:tr h="259689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BB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52M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INSIDER-LIKE</a:t>
                      </a:r>
                    </a:p>
                  </a:txBody>
                  <a:tcPr>
                    <a:solidFill>
                      <a:srgbClr val="EDE0F8"/>
                    </a:solidFill>
                    <a:lnL w="6350">
                      <a:solidFill>
                        <a:srgbClr val="D9CCE4"/>
                      </a:solidFill>
                    </a:lnL>
                    <a:lnR w="6350">
                      <a:solidFill>
                        <a:srgbClr val="D9CCE4"/>
                      </a:solidFill>
                    </a:lnR>
                    <a:lnT w="6350">
                      <a:solidFill>
                        <a:srgbClr val="D9CCE4"/>
                      </a:solidFill>
                    </a:lnT>
                    <a:lnB w="6350">
                      <a:solidFill>
                        <a:srgbClr val="D9CC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27848" y="4297679"/>
            <a:ext cx="3651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2020"/>
                </a:solidFill>
                <a:latin typeface="Arial"/>
              </a:rPr>
              <a:t>POST-SURGE DISTRIBUTORS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927848" y="4535423"/>
          <a:ext cx="2130552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530352"/>
                <a:gridCol w="7315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Surge End</a:t>
                      </a:r>
                    </a:p>
                  </a:txBody>
                  <a:tcPr>
                    <a:solidFill>
                      <a:srgbClr val="C02020"/>
                    </a:solidFill>
                    <a:lnL w="6350">
                      <a:solidFill>
                        <a:srgbClr val="AC0C0C"/>
                      </a:solidFill>
                    </a:lnL>
                    <a:lnR w="6350">
                      <a:solidFill>
                        <a:srgbClr val="AC0C0C"/>
                      </a:solidFill>
                    </a:lnR>
                    <a:lnT w="6350">
                      <a:solidFill>
                        <a:srgbClr val="AC0C0C"/>
                      </a:solidFill>
                    </a:lnT>
                    <a:lnB w="6350">
                      <a:solidFill>
                        <a:srgbClr val="AC0C0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C02020"/>
                    </a:solidFill>
                    <a:lnL w="6350">
                      <a:solidFill>
                        <a:srgbClr val="AC0C0C"/>
                      </a:solidFill>
                    </a:lnL>
                    <a:lnR w="6350">
                      <a:solidFill>
                        <a:srgbClr val="AC0C0C"/>
                      </a:solidFill>
                    </a:lnR>
                    <a:lnT w="6350">
                      <a:solidFill>
                        <a:srgbClr val="AC0C0C"/>
                      </a:solidFill>
                    </a:lnT>
                    <a:lnB w="6350">
                      <a:solidFill>
                        <a:srgbClr val="AC0C0C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Net Sold</a:t>
                      </a:r>
                    </a:p>
                  </a:txBody>
                  <a:tcPr>
                    <a:solidFill>
                      <a:srgbClr val="C02020"/>
                    </a:solidFill>
                    <a:lnL w="6350">
                      <a:solidFill>
                        <a:srgbClr val="AC0C0C"/>
                      </a:solidFill>
                    </a:lnL>
                    <a:lnR w="6350">
                      <a:solidFill>
                        <a:srgbClr val="AC0C0C"/>
                      </a:solidFill>
                    </a:lnR>
                    <a:lnT w="6350">
                      <a:solidFill>
                        <a:srgbClr val="AC0C0C"/>
                      </a:solidFill>
                    </a:lnT>
                    <a:lnB w="6350">
                      <a:solidFill>
                        <a:srgbClr val="AC0C0C"/>
                      </a:solidFill>
                    </a:lnB>
                  </a:tcPr>
                </a:tc>
              </a:tr>
              <a:tr h="17068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2026-06-02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AZ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-10.7M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17068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-9.4M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17068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2026-04-14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TP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-90.0M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17068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-16.1M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17068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2026-02-18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TP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-48.7M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170688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YU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-32.3M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Ownership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640080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6217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Shareholder Breakdown  —  3-Tier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96328" y="914400"/>
            <a:ext cx="438271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06056" y="950976"/>
            <a:ext cx="41998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Named Shareholders  &gt;1%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6217920" cy="49377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96328" y="1216152"/>
          <a:ext cx="4288536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731520"/>
                <a:gridCol w="658368"/>
                <a:gridCol w="65836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Holder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780288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Kreasi Jasa Persada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4.57B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45.33%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≥5%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780288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Caraka Reksa Optima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2.47B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24.45%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≥5%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780288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Sentosa Bersama Mitra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256.9M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2.55%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780288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OCBC Securities Private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170.6M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1.69%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780288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Morgan Stanley International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166.2M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1.65%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780288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Petrindo Jaya Kreasi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138.9M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1.38%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&lt;5%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Broker Holdings  —  Top 10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740664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72237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Exchange Float  ·  Top 10 Brokers  ·  100.7% of total shares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110727" y="914400"/>
            <a:ext cx="346831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5" y="950976"/>
            <a:ext cx="3285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Detail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7406640" cy="49377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10727" y="1216152"/>
          <a:ext cx="3419856" cy="4937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"/>
                <a:gridCol w="1280160"/>
                <a:gridCol w="1005840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%Co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6.15B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60.97%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ZP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520.5M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5.16%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382.3M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3.79%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HP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354.1M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3.51%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KS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269.6M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2.67%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229.9M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2.28%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222.7M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2.21%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DH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190.5M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1.89%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TP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171.2M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1.70%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OD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142.7M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1.42%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AVCO Cost Basis  —  Top 20 Brokers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AVCO  ·  Price-correlated lot matching (sell at P → consume lot nearest to P)  ·  96 brokers total  ·  Current price Rp 4,125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8961120" cy="480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188720"/>
                <a:gridCol w="1097280"/>
                <a:gridCol w="658368"/>
                <a:gridCol w="1170432"/>
                <a:gridCol w="1417320"/>
                <a:gridCol w="1417320"/>
                <a:gridCol w="14173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%Co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AVCO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Realized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Unrealized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Combined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6.15B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60.97%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Rp2,016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+Rp580.56B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+Rp13.0T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+Rp13.6T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ZP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520.5M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5.16%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Rp4,954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+Rp319.87B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-Rp431.64B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-Rp111.77B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382.3M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3.79%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Rp4,955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+Rp147.79B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-Rp317.45B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-Rp169.65B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HP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354.1M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3.51%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Rp8,225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+Rp541.00B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-Rp1.5T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-Rp911.06B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KS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269.6M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2.67%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Rp166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+Rp0.28B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+Rp1.1T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+Rp1.1T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229.9M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2.28%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Rp5,292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+Rp399.98B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-Rp268.34B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+Rp131.64B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222.7M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2.21%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Rp4,272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+Rp142.66B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-Rp32.74B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+Rp109.93B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DH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190.5M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1.89%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Rp2,112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+Rp125.59B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+Rp383.46B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+Rp509.05B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TP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171.2M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1.70%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Rp5,348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+Rp509.32B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-Rp209.41B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+Rp299.91B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OD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Pemerintah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142.7M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1.42%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Rp5,010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+Rp110.29B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-Rp126.29B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-Rp16.00B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123.8M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1.23%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Rp279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+Rp4.93B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+Rp476.26B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+Rp481.18B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YP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118.4M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1.17%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Rp4,555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+Rp292.32B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-Rp50.99B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+Rp241.33B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102.2M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1.01%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Rp5,356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+Rp439.67B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-Rp125.87B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+Rp313.80B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DR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84.3M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0.84%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Rp4,946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+Rp126.69B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-Rp69.23B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+Rp57.46B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SA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79.5M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0.79%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Rp380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+Rp28.25B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+Rp297.78B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+Rp326.04B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AO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78.3M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0.78%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Rp2,390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+Rp24.35B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+Rp135.85B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+Rp160.20B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69.8M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0.69%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Rp4,930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+Rp175.68B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-Rp56.16B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+Rp119.52B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IN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62.0M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0.61%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Rp3,305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+Rp54.67B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+Rp50.82B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+Rp105.49B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SQ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Lokal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61.0M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0.60%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Rp4,446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+Rp74.14B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-Rp19.62B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+Rp54.52B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27228"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CP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Asing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54.5M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0.54%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Rp4,563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+Rp173.95B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-Rp23.88B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</a:rPr>
                        <a:t>+Rp150.07B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Combined P&amp;L  —  Realized + Unrealized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Realized: +Rp7.3T  ·  Unrealized: +Rp11.8T  ·  Combined: +Rp19.0T  ·  80/96 profitable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10966399" cy="4937760"/>
          </a:xfrm>
          <a:prstGeom prst="rect">
            <a:avLst/>
          </a:prstGeom>
        </p:spPr>
      </p:pic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AVCO Distribution  —  Where Did the Top 10 Buy?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Top 10 by shares  ·  Bar = buying range (AVCO ± 1σ)  ·  Tick = average cost (AVCO)  ·  Blue = in profit (AVCO below Rp 4,125)  ·  Red = underwater  ·  % = unrealized profit or loss vs current price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10966399" cy="4937760"/>
          </a:xfrm>
          <a:prstGeom prst="rect">
            <a:avLst/>
          </a:prstGeom>
        </p:spPr>
      </p:pic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SD / Conviction Analysis  —  Accumulation Behaviour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σ ≤ 15 = disciplined zone buyers  ·  σ &gt; 25 = price-chasers  ·  Tightest = within last 6 months (bullish)  ·  Rel σ (σ÷market σ) on Bell Curve slide — &lt;1.0 = tighter than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216152"/>
            <a:ext cx="3564026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252728"/>
            <a:ext cx="33811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TIGHT  σ ≤ 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648" y="1508760"/>
          <a:ext cx="35661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676656"/>
                <a:gridCol w="475488"/>
                <a:gridCol w="512064"/>
                <a:gridCol w="694944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AVCO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Tightest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55092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GW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Rp185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12.2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35.8M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173–197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55092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SM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Rp61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2.4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5.8M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59–64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55092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GI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Rp272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0.8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1.0M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271–272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55092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Rp84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7.6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783K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77–92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55092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LK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Rp54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0.9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600K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53–55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55092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OK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Rp296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8.2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413K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287–304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55092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DM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Rp163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4.2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300K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159–168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55092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DD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Rp320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144K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317–322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313834" y="1216152"/>
            <a:ext cx="3564026" cy="25603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3562" y="1252728"/>
            <a:ext cx="33811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MODERATE  σ 16-25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13834" y="1508760"/>
          <a:ext cx="356616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676656"/>
                <a:gridCol w="475488"/>
                <a:gridCol w="512064"/>
                <a:gridCol w="694944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AVCO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Tightest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>
                    <a:solidFill>
                      <a:srgbClr val="214A6E"/>
                    </a:solidFill>
                    <a:lnL w="6350">
                      <a:solidFill>
                        <a:srgbClr val="0D365A"/>
                      </a:solidFill>
                    </a:lnL>
                    <a:lnR w="6350">
                      <a:solidFill>
                        <a:srgbClr val="0D365A"/>
                      </a:solidFill>
                    </a:lnR>
                    <a:lnT w="6350">
                      <a:solidFill>
                        <a:srgbClr val="0D365A"/>
                      </a:solidFill>
                    </a:lnT>
                    <a:lnB w="6350">
                      <a:solidFill>
                        <a:srgbClr val="0D365A"/>
                      </a:solidFill>
                    </a:lnB>
                  </a:tcPr>
                </a:tc>
              </a:tr>
              <a:tr h="146913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SA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Rp380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22.5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79.5M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358–403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146913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IP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Rp220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15.0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3.6M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205–235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1469136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BZ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Rp139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19.6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540K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119–158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015020" y="1216152"/>
            <a:ext cx="3564026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4748" y="1252728"/>
            <a:ext cx="338114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WIDE / EXTREME  σ&gt;25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015020" y="1508760"/>
          <a:ext cx="3566160" cy="4663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676656"/>
                <a:gridCol w="475488"/>
                <a:gridCol w="512064"/>
                <a:gridCol w="694944"/>
                <a:gridCol w="566928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AVCO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Tightest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Range</a:t>
                      </a:r>
                    </a:p>
                  </a:txBody>
                  <a:tcPr>
                    <a:solidFill>
                      <a:srgbClr val="C0392B"/>
                    </a:solidFill>
                    <a:lnL w="6350">
                      <a:solidFill>
                        <a:srgbClr val="AC2517"/>
                      </a:solidFill>
                    </a:lnL>
                    <a:lnR w="6350">
                      <a:solidFill>
                        <a:srgbClr val="AC2517"/>
                      </a:solidFill>
                    </a:lnR>
                    <a:lnT w="6350">
                      <a:solidFill>
                        <a:srgbClr val="AC2517"/>
                      </a:solidFill>
                    </a:lnT>
                    <a:lnB w="6350">
                      <a:solidFill>
                        <a:srgbClr val="AC2517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Rp2,016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279.3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6.15B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1736–2295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ZP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Rp4,954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1747.9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520.5M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3206–6702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Rp4,955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1686.9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382.3M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3268–6642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HP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Rp8,225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3480.0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354.1M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4745–11705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KS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Rp166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57.8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269.6M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108–223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Rp5,292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542.6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229.9M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4749–5835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Rp4,272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2067.3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222.7M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2204–6339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DH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Rp2,112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748.1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190.5M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1364–2860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TP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Rp5,348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4235.8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171.2M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Jun '26 (R)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1112–9584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OD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Rp5,010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1904.3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142.7M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Jul '26 (R)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3105–6914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00673">
                <a:tc>
                  <a:txBody>
                    <a:bodyPr wrap="none"/>
                    <a:lstStyle/>
                    <a:p>
                      <a:pPr algn="l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>…+66 more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Bell Curves  —  Accumulation Distribution by Conviction Tier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Narrow peak = disciplined buyer (high conviction)  ·  Flat curve = no price discipline  ·  3 panels — one per σ tier  ·  Each panel has its own zoomed x-axis  ·  Red dashed = current price  ·  Curve normalized to peak = 1.0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10966399" cy="2423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" y="3685032"/>
            <a:ext cx="365546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B7A3E"/>
                </a:solidFill>
                <a:latin typeface="Arial"/>
              </a:rPr>
              <a:t>GW σ12  ·  SM σ2  ·  GI σ1  ·  PI σ8  ·  LK σ1  ·  OK σ8  ·  DM σ4  ·  DD σ2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8114" y="3685032"/>
            <a:ext cx="365546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1F5FA6"/>
                </a:solidFill>
                <a:latin typeface="Arial"/>
              </a:rPr>
              <a:t>SA σ22  ·  IP σ15  ·  BZ σ20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3580" y="3685032"/>
            <a:ext cx="365546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C0392B"/>
                </a:solidFill>
                <a:latin typeface="Arial"/>
              </a:rPr>
              <a:t>CC σ279  ·  ZP σ1748  ·  NI σ1687  ·  HP σ3480  ·  KS σ58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4078224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4114800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σ Evolution — Top 5 by Shares  ·  σ = buy-price std deviation (lower = more focused zone buying)  ·  Trend = σ 30d vs σ 180d (Tightening = buying more focused recently)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2648" y="4370832"/>
          <a:ext cx="10058400" cy="1828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005840"/>
                <a:gridCol w="1005840"/>
                <a:gridCol w="1005840"/>
                <a:gridCol w="1005840"/>
                <a:gridCol w="914400"/>
                <a:gridCol w="228600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 All-time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 30d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 90d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σ 180d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Rel σ 30d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Trend (30d vs 180d)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6.15B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279.3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130.1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763.9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1461.1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0.98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ZP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520.5M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1747.9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177.2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778.6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1659.3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C0392B"/>
                          </a:solidFill>
                          <a:latin typeface="Arial"/>
                        </a:rPr>
                        <a:t>1.33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382.3M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1686.9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149.5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789.3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1316.3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1.13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HP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354.1M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3480.0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171.1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759.3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2569.9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C0392B"/>
                          </a:solidFill>
                          <a:latin typeface="Arial"/>
                        </a:rPr>
                        <a:t>1.29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216B3A"/>
                          </a:solidFill>
                          <a:latin typeface="Arial"/>
                        </a:rPr>
                        <a:t>Tightening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314553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KS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269.6M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57.8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44444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>
                          <a:solidFill>
                            <a:srgbClr val="777777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Broker Regime Map  —  30d vs 180d Net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7406640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72237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Arial"/>
              </a:rPr>
              <a:t>X = 30d net flow %  ·  Y = 180d net flow %  ·  Bubble ∝ ownership %  ·  Green=Accumulating  ·  Orange=Regime Change  ·  Red=Distributing  ·  Blue=Flipped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8110727" y="914400"/>
            <a:ext cx="346831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5" y="950976"/>
            <a:ext cx="32854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Detail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16152"/>
            <a:ext cx="7406640" cy="49377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10727" y="1216152"/>
          <a:ext cx="3291840" cy="4937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188720"/>
                <a:gridCol w="11887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30d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180d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+0.1%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-0.4%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ZP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+0.5%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+10.9%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NI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-0.8%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+20.7%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HP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+0.8%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+11.6%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KS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+0.0%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+0.0%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PD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-4.6%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-10.7%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XL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+2.3%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+80.9%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DH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+0.2%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-12.5%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TP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-1.0%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-85.7%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8172">
                <a:tc>
                  <a:txBody>
                    <a:bodyPr wrap="none"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OD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+5.7%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</a:rPr>
                        <a:t>+89.7%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Investment Thesis  —  PTRO at Rp 4,125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539175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520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Bullish Signals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7287" y="914400"/>
            <a:ext cx="5391759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97015" y="950976"/>
            <a:ext cx="52088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Tactical Caution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362456"/>
            <a:ext cx="36576" cy="365760"/>
          </a:xfrm>
          <a:prstGeom prst="rect">
            <a:avLst/>
          </a:prstGeom>
          <a:solidFill>
            <a:srgbClr val="21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307592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AVCO median Rp 4,054 — price is ABOVE median broker cost.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075688"/>
            <a:ext cx="36576" cy="365760"/>
          </a:xfrm>
          <a:prstGeom prst="rect">
            <a:avLst/>
          </a:prstGeom>
          <a:solidFill>
            <a:srgbClr val="21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020824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Net unrealized gain +Rp11.8T — broker float predominantly profitable.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2788920"/>
            <a:ext cx="36576" cy="365760"/>
          </a:xfrm>
          <a:prstGeom prst="rect">
            <a:avLst/>
          </a:prstGeom>
          <a:solidFill>
            <a:srgbClr val="21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2734056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Realized armor: +Rp7.3T banked profit provides buffer.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3502152"/>
            <a:ext cx="36576" cy="365760"/>
          </a:xfrm>
          <a:prstGeom prst="rect">
            <a:avLst/>
          </a:prstGeom>
          <a:solidFill>
            <a:srgbClr val="21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3447288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Top 10 brokers hold 85.6% of total shares — concentrated, large incremental moves possible.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4215384"/>
            <a:ext cx="36576" cy="365760"/>
          </a:xfrm>
          <a:prstGeom prst="rect">
            <a:avLst/>
          </a:prstGeom>
          <a:solidFill>
            <a:srgbClr val="21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4160520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80/96 brokers profitable — majority positioned to hold.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87287" y="1362456"/>
            <a:ext cx="36576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7015" y="1307592"/>
            <a:ext cx="5236311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Arial"/>
              </a:rPr>
              <a:t>Named &lt;5% holders (7.3%) = direct KSEI holders (creditor conversions, IPO allotments, or pre-IPO investors — entry price varies) — exit adds unexpected supply.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Ownership Reconciliation &amp;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Share Count Reconciliation  —  3-Tier Ownership Model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1216152"/>
          <a:ext cx="10972800" cy="25603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188720"/>
                <a:gridCol w="868680"/>
                <a:gridCol w="608076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Shares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Strategic ≥5% (founders/pre-IPO)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7.04B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69.78%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KSEI direct — never in broker flow, zero overlap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Named &lt;5% (direct KSEI — creditor/allotment/pre-IPO)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732.6M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7.26%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May overlap broker float — entry cost varies by holder type (shown gross)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Broker-tracked float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10.16B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100.71%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Raw broker flow data — may overlap with named &lt;5% holders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Untracked (KSEI, unidentified)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0.00%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Not in named list or broker data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46085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TOTAL SHARES OUTSTANDING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10.09B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100.00%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Fully reconciled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12648" y="3913632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3950208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4261103"/>
            <a:ext cx="36576" cy="34747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4215383"/>
            <a:ext cx="10829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Arial"/>
              </a:rPr>
              <a:t>AVCO: price-correlated lot matching — on SELL at price P, consume the lot with min |buy_price − P|. Correct for aggregate broker data; raw FIFO and equal-weight AVCO both produce incorrect basis.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4828031"/>
            <a:ext cx="36576" cy="34747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4782312"/>
            <a:ext cx="10829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Arial"/>
              </a:rPr>
              <a:t>Gross flows: Stockbit Net-OFF — separate BUY/SELL rows per broker per day. Data: 2016-01-04 → 2026-07-15 (2538 days).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" y="5394959"/>
            <a:ext cx="36576" cy="34747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349240"/>
            <a:ext cx="10829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Arial"/>
              </a:rPr>
              <a:t>Corporate actions: applied in-queue on recording date. Forward splits/bonus: lots ×multiplier, prices ×(1/multiplier). Reverse splits: lots ÷multiplier, prices ×multiplier. No post-hoc factor.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5961888"/>
            <a:ext cx="36576" cy="347472"/>
          </a:xfrm>
          <a:prstGeom prst="rect">
            <a:avLst/>
          </a:prstGeom>
          <a:solidFill>
            <a:srgbClr val="21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5916168"/>
            <a:ext cx="10829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  <a:latin typeface="Arial"/>
              </a:rPr>
              <a:t>Realized P&amp;L: realized_pnl_rp from holdings_final.csv (LotQueue). NOT avco_realized — can differ by billions on high-volume brokers.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1096639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6212E"/>
                </a:solidFill>
                <a:latin typeface="Arial"/>
              </a:rPr>
              <a:t>Broker Intelligence — VWAP Alpha &amp; Ownership Clustering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14400"/>
            <a:ext cx="10966399" cy="256032"/>
          </a:xfrm>
          <a:prstGeom prst="rect">
            <a:avLst/>
          </a:prstGeom>
          <a:solidFill>
            <a:srgbClr val="1621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2376" y="950976"/>
            <a:ext cx="10783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</a:rPr>
              <a:t>VWAP alpha &lt; 0 = broker buys cheaper than market average  ·  r &gt; 0.50 shown  ·  r ≥ 0.70 + both non-MM = amber (strong same-owner signal)  ·  Negative r = counterparty/transfer behavior, not co-ownership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1615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212E"/>
                </a:solidFill>
                <a:latin typeface="Arial"/>
              </a:rPr>
              <a:t>BUY VWAP ALPHA  vs market  (all history)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" y="1490472"/>
          <a:ext cx="4480560" cy="4434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"/>
                <a:gridCol w="822960"/>
                <a:gridCol w="731520"/>
                <a:gridCol w="73152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Broker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Mean α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Days&lt;Mkt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t-stat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Buy days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DU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-1.037%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-2.0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AF MM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-0.902%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-1.4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DM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-0.543%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-0.7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AN MM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-0.502%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60%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-2.7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>
                    <a:solidFill>
                      <a:srgbClr val="D6EFD8"/>
                    </a:solidFill>
                    <a:lnL w="6350">
                      <a:solidFill>
                        <a:srgbClr val="C2DBC4"/>
                      </a:solidFill>
                    </a:lnL>
                    <a:lnR w="6350">
                      <a:solidFill>
                        <a:srgbClr val="C2DBC4"/>
                      </a:solidFill>
                    </a:lnR>
                    <a:lnT w="6350">
                      <a:solidFill>
                        <a:srgbClr val="C2DBC4"/>
                      </a:solidFill>
                    </a:lnT>
                    <a:lnB w="6350">
                      <a:solidFill>
                        <a:srgbClr val="C2DBC4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BF MM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-0.479%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68%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-2.7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DD MM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-0.447%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58%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-0.6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OK PPE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-0.441%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-2.5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IT ACC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-0.435%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-9.1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RB PPE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-0.407%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56%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-0.9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IP MM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-0.395%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69%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-4.6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365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PG PPE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-0.380%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-3.9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BS PPE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-0.220%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59%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-1.8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EL PPE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-0.219%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72%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-0.3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HP CHN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-0.203%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55%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-1.9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1335</a:t>
                      </a:r>
                    </a:p>
                  </a:txBody>
                  <a:tcPr>
                    <a:solidFill>
                      <a:srgbClr val="EAF6EB"/>
                    </a:solidFill>
                    <a:lnL w="6350">
                      <a:solidFill>
                        <a:srgbClr val="D6E2D7"/>
                      </a:solidFill>
                    </a:lnL>
                    <a:lnR w="6350">
                      <a:solidFill>
                        <a:srgbClr val="D6E2D7"/>
                      </a:solidFill>
                    </a:lnR>
                    <a:lnT w="6350">
                      <a:solidFill>
                        <a:srgbClr val="D6E2D7"/>
                      </a:solidFill>
                    </a:lnT>
                    <a:lnB w="6350">
                      <a:solidFill>
                        <a:srgbClr val="D6E2D7"/>
                      </a:solidFill>
                    </a:lnB>
                  </a:tcPr>
                </a:tc>
              </a:tr>
              <a:tr h="278587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LS MM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-0.148%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-2.7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517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96328" y="1216152"/>
            <a:ext cx="4382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6212E"/>
                </a:solidFill>
                <a:latin typeface="Arial"/>
              </a:rPr>
              <a:t>CORRELATED BROKER PAIRS  (same owner signal)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96328" y="1490472"/>
          <a:ext cx="33832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640080"/>
                <a:gridCol w="685800"/>
                <a:gridCol w="777240"/>
              </a:tblGrid>
              <a:tr h="256032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Pair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Overlap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Roles</a:t>
                      </a:r>
                    </a:p>
                  </a:txBody>
                  <a:tcPr>
                    <a:solidFill>
                      <a:srgbClr val="16212E"/>
                    </a:solidFill>
                    <a:lnL w="6350">
                      <a:solidFill>
                        <a:srgbClr val="020D1A"/>
                      </a:solidFill>
                    </a:lnL>
                    <a:lnR w="6350">
                      <a:solidFill>
                        <a:srgbClr val="020D1A"/>
                      </a:solidFill>
                    </a:lnR>
                    <a:lnT w="6350">
                      <a:solidFill>
                        <a:srgbClr val="020D1A"/>
                      </a:solidFill>
                    </a:lnT>
                    <a:lnB w="6350">
                      <a:solidFill>
                        <a:srgbClr val="020D1A"/>
                      </a:solidFill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AO/PG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-0.507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69d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STR|DIS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HP/ZP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-0.512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1286d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STR|STR</a:t>
                      </a:r>
                    </a:p>
                  </a:txBody>
                  <a:tcPr>
                    <a:solidFill>
                      <a:srgbClr val="F3F4F6"/>
                    </a:solidFill>
                    <a:lnL w="6350">
                      <a:solidFill>
                        <a:srgbClr val="DFE0E2"/>
                      </a:solidFill>
                    </a:lnL>
                    <a:lnR w="6350">
                      <a:solidFill>
                        <a:srgbClr val="DFE0E2"/>
                      </a:solidFill>
                    </a:lnR>
                    <a:lnT w="6350">
                      <a:solidFill>
                        <a:srgbClr val="DFE0E2"/>
                      </a:solidFill>
                    </a:lnT>
                    <a:lnB w="6350">
                      <a:solidFill>
                        <a:srgbClr val="DFE0E2"/>
                      </a:solidFill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BB/CC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-0.996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153d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</a:rPr>
                        <a:t>DIS|ACC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EBEBEB"/>
                      </a:solidFill>
                    </a:lnL>
                    <a:lnR w="6350">
                      <a:solidFill>
                        <a:srgbClr val="EBEBEB"/>
                      </a:solidFill>
                    </a:lnR>
                    <a:lnT w="6350">
                      <a:solidFill>
                        <a:srgbClr val="EBEBEB"/>
                      </a:solidFill>
                    </a:lnT>
                    <a:lnB w="6350">
                      <a:solidFill>
                        <a:srgbClr val="EBEB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96328" y="6062472"/>
            <a:ext cx="438271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77777"/>
                </a:solidFill>
                <a:latin typeface="Arial"/>
              </a:rPr>
              <a:t>★ AMBER = r ≥ 0.70 + both non-MM roles = likely single owner</a:t>
            </a:r>
          </a:p>
        </p:txBody>
      </p:sp>
      <p:sp>
        <p:nvSpPr>
          <p:cNvPr id="9999" name="line"/>
          <p:cNvSpPr>
            <a:spLocks noGrp="1"/>
          </p:cNvSpPr>
          <p:nvPr/>
        </p:nvSpPr>
        <p:spPr>
          <a:xfrm>
            <a:off x="612648" y="6245352"/>
            <a:ext cx="10966399" cy="0"/>
          </a:xfrm>
          <a:prstGeom prst="line">
            <a:avLst/>
          </a:prstGeom>
          <a:noFill/>
          <a:ln w="6350">
            <a:solidFill>
              <a:srgbClr val="CCD0D8"/>
            </a:solidFill>
          </a:ln>
        </p:spPr>
        <p:txBody>
          <a:bodyPr/>
          <a:lstStyle/>
          <a:p/>
        </p:txBody>
      </p:sp>
      <p:sp>
        <p:nvSpPr>
          <p:cNvPr id="10000" name="TextBox 9999"/>
          <p:cNvSpPr txBox="1"/>
          <p:nvPr/>
        </p:nvSpPr>
        <p:spPr>
          <a:xfrm>
            <a:off x="612648" y="6291072"/>
            <a:ext cx="82247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Arial"/>
              </a:rPr>
              <a:t>IDX Broker Analysis  ·  16 Jul 2026</a:t>
            </a:r>
          </a:p>
        </p:txBody>
      </p:sp>
      <p:sp>
        <p:nvSpPr>
          <p:cNvPr id="10001" name="TextBox 10000"/>
          <p:cNvSpPr txBox="1"/>
          <p:nvPr/>
        </p:nvSpPr>
        <p:spPr>
          <a:xfrm>
            <a:off x="11121847" y="62910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777777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